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33"/>
  </p:handoutMasterIdLst>
  <p:sldIdLst>
    <p:sldId id="256" r:id="rId3"/>
    <p:sldId id="261" r:id="rId4"/>
    <p:sldId id="258" r:id="rId5"/>
    <p:sldId id="262" r:id="rId6"/>
    <p:sldId id="263" r:id="rId7"/>
    <p:sldId id="264" r:id="rId8"/>
    <p:sldId id="273" r:id="rId9"/>
    <p:sldId id="275" r:id="rId10"/>
    <p:sldId id="276" r:id="rId11"/>
    <p:sldId id="277" r:id="rId12"/>
    <p:sldId id="278" r:id="rId13"/>
    <p:sldId id="265" r:id="rId14"/>
    <p:sldId id="274" r:id="rId15"/>
    <p:sldId id="290" r:id="rId16"/>
    <p:sldId id="291" r:id="rId18"/>
    <p:sldId id="266" r:id="rId19"/>
    <p:sldId id="267" r:id="rId20"/>
    <p:sldId id="26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</p:sldIdLst>
  <p:sldSz cx="12192000" cy="6858000"/>
  <p:notesSz cx="12192000" cy="6858000"/>
  <p:embeddedFontLst>
    <p:embeddedFont>
      <p:font typeface="微软雅黑" charset="-122"/>
      <p:regular r:id="rId37"/>
    </p:embeddedFont>
    <p:embeddedFont>
      <p:font typeface="微软雅黑" pitchFamily="34" charset="-120"/>
      <p:regular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2188"/>
        <p:guide pos="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font" Target="fonts/font2.fntdata"/><Relationship Id="rId37" Type="http://schemas.openxmlformats.org/officeDocument/2006/relationships/font" Target="fonts/font1.fntdata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冷量</c:f>
              <c:strCache>
                <c:ptCount val="1"/>
                <c:pt idx="0">
                  <c:v>冷量</c:v>
                </c:pt>
              </c:strCache>
            </c:strRef>
          </c:tx>
          <c:spPr>
            <a:solidFill>
              <a:srgbClr val="1783FF"/>
            </a:solidFill>
          </c:spPr>
          <c:explosion val="0"/>
          <c:dPt>
            <c:idx val="0"/>
            <c:bubble3D val="0"/>
            <c:spPr>
              <a:solidFill>
                <a:srgbClr val="003A70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2E7FC2"/>
              </a:solidFill>
              <a:ln>
                <a:noFill/>
              </a:ln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 noProof="1">
                    <a:solidFill>
                      <a:srgbClr val="FFFFFF"/>
                    </a:solidFill>
                    <a:latin typeface="微软雅黑" charset="-122"/>
                    <a:ea typeface="+mn-ea"/>
                    <a:cs typeface="+mn-cs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{"蒸发冷却提供","冰块补充"}</c:f>
              <c:strCache>
                <c:ptCount val="2"/>
                <c:pt idx="0">
                  <c:v>蒸发冷却提供</c:v>
                </c:pt>
                <c:pt idx="1">
                  <c:v>冰块补充</c:v>
                </c:pt>
              </c:strCache>
            </c:strRef>
          </c:cat>
          <c:val>
            <c:numRef>
              <c:f>{15376,3844}</c:f>
              <c:numCache>
                <c:formatCode>General</c:formatCode>
                <c:ptCount val="2"/>
                <c:pt idx="0">
                  <c:v>15376</c:v>
                </c:pt>
                <c:pt idx="1">
                  <c:v>3844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90"/>
      </c:pieChart>
      <c:spPr>
        <a:noFill/>
        <a:ln>
          <a:noFill/>
        </a:ln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50" b="0" i="0" u="none" strike="noStrike" kern="1200" baseline="0" noProof="1">
                <a:solidFill>
                  <a:schemeClr val="tx1"/>
                </a:solidFill>
                <a:latin typeface="微软雅黑" charset="-122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50" b="0" i="0" u="none" strike="noStrike" kern="1200" baseline="0" noProof="1">
                <a:solidFill>
                  <a:schemeClr val="tx1"/>
                </a:solidFill>
                <a:latin typeface="微软雅黑" charset="-122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50" b="0" i="0" u="none" strike="noStrike" kern="1200" baseline="0" noProof="1">
              <a:solidFill>
                <a:schemeClr val="tx1"/>
              </a:solidFill>
              <a:latin typeface="微软雅黑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2809a25-390b-4287-b821-739caf43a83f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C00000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E7E6E6"/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0.772727272727273</c:v>
                </c:pt>
                <c:pt idx="1">
                  <c:v>0.227272727272727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a71e734f-9fdc-4a31-8d38-a7fdcdcca27a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2E7FC2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E7E6E6"/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0.52</c:v>
                </c:pt>
                <c:pt idx="1">
                  <c:v>0.48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24e3232f-f3be-4d21-99a4-7353b27ed7a5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003A70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E7E6E6"/>
              </a:solidFill>
              <a:ln>
                <a:noFill/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0.215</c:v>
                </c:pt>
                <c:pt idx="1">
                  <c:v>0.785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2e676bd7-1c30-449f-9f13-96ef9e976663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>
                <a:latin typeface="微软雅黑" charset="-122"/>
                <a:ea typeface="微软雅黑" charset="-122"/>
                <a:cs typeface="微软雅黑" charset="-122"/>
              </a:rPr>
            </a:fld>
            <a:endParaRPr lang="zh-CN" altLang="en-US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>
                <a:latin typeface="微软雅黑" charset="-122"/>
                <a:ea typeface="微软雅黑" charset="-122"/>
                <a:cs typeface="微软雅黑" charset="-122"/>
              </a:rPr>
            </a:fld>
            <a:endParaRPr lang="zh-CN" altLang="en-US"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05979" y="0"/>
            <a:ext cx="52832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charset="-122"/>
                <a:ea typeface="微软雅黑" charset="-122"/>
                <a:cs typeface="微软雅黑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charset="-122"/>
        <a:ea typeface="微软雅黑" charset="-122"/>
        <a:cs typeface="微软雅黑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charset="-122"/>
        <a:ea typeface="微软雅黑" charset="-122"/>
        <a:cs typeface="微软雅黑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charset="-122"/>
        <a:ea typeface="微软雅黑" charset="-122"/>
        <a:cs typeface="微软雅黑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charset="-122"/>
        <a:ea typeface="微软雅黑" charset="-122"/>
        <a:cs typeface="微软雅黑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charset="-122"/>
        <a:ea typeface="微软雅黑" charset="-122"/>
        <a:cs typeface="微软雅黑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pic>
        <p:nvPicPr>
          <p:cNvPr id="51" name="图片 50" descr="F:\zsy\天合富家\新logo蓝.png新logo蓝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355580" y="336550"/>
            <a:ext cx="1514475" cy="5003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</p:spPr>
        <p:txBody>
          <a:bodyPr/>
          <a:p/>
        </p:txBody>
      </p:sp>
      <p:sp>
        <p:nvSpPr>
          <p:cNvPr id="3" name="hdr-title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户用综合能源：光伏 + 制冰蓄冷 + 蒸发/</a:t>
            </a:r>
            <a:r>
              <a:rPr lang="zh-CN" alt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空调</a:t>
            </a:r>
            <a:r>
              <a:rPr lang="en-US" altLang="zh-CN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/</a:t>
            </a:r>
            <a:r>
              <a:rPr lang="zh-CN" alt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冰箱</a:t>
            </a:r>
            <a:endParaRPr lang="zh-CN" altLang="en-US" sz="2500" b="1" noProof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hdr-sub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单间卧室（15㎡ · 1 人 1 台）落地方案 · 白天 5h 光伏制冰 · 夜间 4h 冰风联合供冷 · 体感降温路线</a:t>
            </a:r>
            <a:endParaRPr lang="en-US" sz="1250" noProof="1"/>
          </a:p>
        </p:txBody>
      </p:sp>
      <p:sp>
        <p:nvSpPr>
          <p:cNvPr id="5" name="hdr-page"/>
          <p:cNvSpPr txBox="1"/>
          <p:nvPr/>
        </p:nvSpPr>
        <p:spPr>
          <a:xfrm>
            <a:off x="11176000" y="83693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01 / 27</a:t>
            </a:r>
            <a:endParaRPr lang="en-US" sz="1250" noProof="1"/>
          </a:p>
        </p:txBody>
      </p:sp>
      <p:sp>
        <p:nvSpPr>
          <p:cNvPr id="21" name="p-cold"/>
          <p:cNvSpPr/>
          <p:nvPr/>
        </p:nvSpPr>
        <p:spPr>
          <a:xfrm>
            <a:off x="6811645" y="1569720"/>
            <a:ext cx="2336800" cy="38100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  <a:prstDash val="dash"/>
          </a:ln>
        </p:spPr>
        <p:txBody>
          <a:bodyPr/>
          <a:p/>
        </p:txBody>
      </p:sp>
      <p:sp>
        <p:nvSpPr>
          <p:cNvPr id="22" name="p-cold-title"/>
          <p:cNvSpPr txBox="1"/>
          <p:nvPr/>
        </p:nvSpPr>
        <p:spPr>
          <a:xfrm>
            <a:off x="6964045" y="1671320"/>
            <a:ext cx="203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冷量链路（实物选型）</a:t>
            </a:r>
            <a:endParaRPr lang="en-US" sz="1600" noProof="1"/>
          </a:p>
        </p:txBody>
      </p:sp>
      <p:pic>
        <p:nvPicPr>
          <p:cNvPr id="23" name="img-tray"/>
          <p:cNvPicPr/>
          <p:nvPr/>
        </p:nvPicPr>
        <p:blipFill>
          <a:blip r:embed="rId2"/>
          <a:srcRect l="195" r="195"/>
          <a:stretch>
            <a:fillRect/>
          </a:stretch>
        </p:blipFill>
        <p:spPr>
          <a:xfrm>
            <a:off x="6964045" y="1976120"/>
            <a:ext cx="711200" cy="4826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24" name="img-tray-border"/>
          <p:cNvSpPr/>
          <p:nvPr/>
        </p:nvSpPr>
        <p:spPr>
          <a:xfrm>
            <a:off x="6964045" y="1976120"/>
            <a:ext cx="711200" cy="4826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25" name="t-tray"/>
          <p:cNvSpPr txBox="1"/>
          <p:nvPr/>
        </p:nvSpPr>
        <p:spPr>
          <a:xfrm>
            <a:off x="7776845" y="1950720"/>
            <a:ext cx="13208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冰格盒</a:t>
            </a:r>
            <a:endParaRPr lang="en-US" sz="1600" noProof="1"/>
          </a:p>
          <a:p>
            <a:pPr>
              <a:lnSpc>
                <a:spcPct val="130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160 格 + 7.5L 储冰</a:t>
            </a:r>
            <a:endParaRPr lang="en-US" sz="1600" noProof="1"/>
          </a:p>
        </p:txBody>
      </p:sp>
      <p:sp>
        <p:nvSpPr>
          <p:cNvPr id="26" name="a-i1"/>
          <p:cNvSpPr/>
          <p:nvPr/>
        </p:nvSpPr>
        <p:spPr>
          <a:xfrm>
            <a:off x="7929245" y="2509520"/>
            <a:ext cx="127000" cy="1524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w="1524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pic>
        <p:nvPicPr>
          <p:cNvPr id="27" name="img-pack"/>
          <p:cNvPicPr/>
          <p:nvPr/>
        </p:nvPicPr>
        <p:blipFill>
          <a:blip r:embed="rId3"/>
          <a:srcRect t="5357" b="5357"/>
          <a:stretch>
            <a:fillRect/>
          </a:stretch>
        </p:blipFill>
        <p:spPr>
          <a:xfrm>
            <a:off x="7141845" y="2712720"/>
            <a:ext cx="355600" cy="6350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28" name="img-pack-border"/>
          <p:cNvSpPr/>
          <p:nvPr/>
        </p:nvSpPr>
        <p:spPr>
          <a:xfrm>
            <a:off x="7141845" y="2712720"/>
            <a:ext cx="355600" cy="635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29" name="t-pack"/>
          <p:cNvSpPr txBox="1"/>
          <p:nvPr/>
        </p:nvSpPr>
        <p:spPr>
          <a:xfrm>
            <a:off x="7776845" y="2712720"/>
            <a:ext cx="1320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蓝冰冰晶盒</a:t>
            </a:r>
            <a:endParaRPr lang="en-US" sz="1600" noProof="1"/>
          </a:p>
          <a:p>
            <a:pPr>
              <a:lnSpc>
                <a:spcPct val="130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高分子冷凝胶 · 循环 5~10 年</a:t>
            </a:r>
            <a:endParaRPr lang="en-US" sz="1600" noProof="1"/>
          </a:p>
        </p:txBody>
      </p:sp>
      <p:sp>
        <p:nvSpPr>
          <p:cNvPr id="30" name="a-i2"/>
          <p:cNvSpPr/>
          <p:nvPr/>
        </p:nvSpPr>
        <p:spPr>
          <a:xfrm>
            <a:off x="7929245" y="3398520"/>
            <a:ext cx="127000" cy="1524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w="1524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pic>
        <p:nvPicPr>
          <p:cNvPr id="31" name="img-cooler"/>
          <p:cNvPicPr/>
          <p:nvPr/>
        </p:nvPicPr>
        <p:blipFill>
          <a:blip r:embed="rId4"/>
          <a:srcRect t="3962" b="3962"/>
          <a:stretch>
            <a:fillRect/>
          </a:stretch>
        </p:blipFill>
        <p:spPr>
          <a:xfrm>
            <a:off x="7116445" y="3601720"/>
            <a:ext cx="406400" cy="6350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32" name="img-cooler-border"/>
          <p:cNvSpPr/>
          <p:nvPr/>
        </p:nvSpPr>
        <p:spPr>
          <a:xfrm>
            <a:off x="7116445" y="3601720"/>
            <a:ext cx="406400" cy="6350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33" name="t-cooler"/>
          <p:cNvSpPr txBox="1"/>
          <p:nvPr/>
        </p:nvSpPr>
        <p:spPr>
          <a:xfrm>
            <a:off x="7776845" y="3601720"/>
            <a:ext cx="13208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EPS 保温箱 6L</a:t>
            </a:r>
            <a:endParaRPr lang="en-US" sz="1600" noProof="1"/>
          </a:p>
          <a:p>
            <a:pPr>
              <a:lnSpc>
                <a:spcPct val="130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储冰周转 12~24h</a:t>
            </a:r>
            <a:endParaRPr lang="en-US" sz="1600" noProof="1"/>
          </a:p>
        </p:txBody>
      </p:sp>
      <p:sp>
        <p:nvSpPr>
          <p:cNvPr id="34" name="a-i3"/>
          <p:cNvSpPr/>
          <p:nvPr/>
        </p:nvSpPr>
        <p:spPr>
          <a:xfrm>
            <a:off x="7929245" y="4287520"/>
            <a:ext cx="127000" cy="1524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5" y="12"/>
                </a:lnTo>
              </a:path>
            </a:pathLst>
          </a:custGeom>
          <a:noFill/>
          <a:ln w="1524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35" name="n-fan"/>
          <p:cNvSpPr/>
          <p:nvPr/>
        </p:nvSpPr>
        <p:spPr>
          <a:xfrm>
            <a:off x="6964045" y="4490720"/>
            <a:ext cx="2032000" cy="736600"/>
          </a:xfrm>
          <a:prstGeom prst="rect">
            <a:avLst/>
          </a:prstGeom>
          <a:solidFill>
            <a:srgbClr val="2E7FC2"/>
          </a:solidFill>
          <a:ln>
            <a:noFill/>
          </a:ln>
        </p:spPr>
        <p:txBody>
          <a:bodyPr/>
          <a:p/>
        </p:txBody>
      </p:sp>
      <p:sp>
        <p:nvSpPr>
          <p:cNvPr id="36" name="n-fan-t"/>
          <p:cNvSpPr txBox="1"/>
          <p:nvPr/>
        </p:nvSpPr>
        <p:spPr>
          <a:xfrm>
            <a:off x="6964045" y="4490720"/>
            <a:ext cx="2032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b="1" noProof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蒸发式冷风扇 210W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D6E8F5"/>
                </a:solidFill>
                <a:latin typeface="微软雅黑" charset="-122"/>
                <a:ea typeface="微软雅黑" charset="-122"/>
              </a:rPr>
              <a:t>美的 ACA10TFC · 夜间 4h</a:t>
            </a:r>
            <a:endParaRPr lang="en-US" sz="1600" noProof="1"/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D6E8F5"/>
                </a:solidFill>
                <a:latin typeface="微软雅黑" charset="-122"/>
                <a:ea typeface="微软雅黑" charset="-122"/>
              </a:rPr>
              <a:t>出风 28.2℃ · 体感降温</a:t>
            </a:r>
            <a:endParaRPr lang="en-US" sz="1600" noProof="1"/>
          </a:p>
        </p:txBody>
      </p:sp>
      <p:sp>
        <p:nvSpPr>
          <p:cNvPr id="37" name="a-ice-box"/>
          <p:cNvSpPr/>
          <p:nvPr/>
        </p:nvSpPr>
        <p:spPr>
          <a:xfrm>
            <a:off x="6481445" y="2179320"/>
            <a:ext cx="330200" cy="76200"/>
          </a:xfrm>
          <a:custGeom>
            <a:avLst/>
            <a:gdLst/>
            <a:ahLst/>
            <a:cxnLst/>
            <a:rect l="l" t="t" r="r" b="b"/>
            <a:pathLst>
              <a:path w="26" h="6">
                <a:moveTo>
                  <a:pt x="0" y="3"/>
                </a:moveTo>
                <a:lnTo>
                  <a:pt x="26" y="3"/>
                </a:lnTo>
              </a:path>
            </a:pathLst>
          </a:custGeom>
          <a:noFill/>
          <a:ln w="1905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38" name="a-ice-box-label"/>
          <p:cNvSpPr txBox="1"/>
          <p:nvPr/>
        </p:nvSpPr>
        <p:spPr>
          <a:xfrm>
            <a:off x="6481445" y="2439670"/>
            <a:ext cx="1143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9.7 kg 冰/晚</a:t>
            </a:r>
            <a:endParaRPr lang="en-US" sz="1600" noProof="1"/>
          </a:p>
        </p:txBody>
      </p:sp>
      <p:sp>
        <p:nvSpPr>
          <p:cNvPr id="39" name="a-bat-fan"/>
          <p:cNvSpPr/>
          <p:nvPr/>
        </p:nvSpPr>
        <p:spPr>
          <a:xfrm>
            <a:off x="6481445" y="4338320"/>
            <a:ext cx="482600" cy="508000"/>
          </a:xfrm>
          <a:custGeom>
            <a:avLst/>
            <a:gdLst/>
            <a:ahLst/>
            <a:cxnLst/>
            <a:rect l="l" t="t" r="r" b="b"/>
            <a:pathLst>
              <a:path w="38" h="40">
                <a:moveTo>
                  <a:pt x="0" y="0"/>
                </a:moveTo>
                <a:lnTo>
                  <a:pt x="19" y="0"/>
                </a:lnTo>
                <a:lnTo>
                  <a:pt x="19" y="40"/>
                </a:lnTo>
                <a:lnTo>
                  <a:pt x="38" y="40"/>
                </a:lnTo>
              </a:path>
            </a:pathLst>
          </a:custGeom>
          <a:noFill/>
          <a:ln w="19050">
            <a:solidFill>
              <a:srgbClr val="003A70"/>
            </a:solidFill>
            <a:tailEnd type="stealth"/>
          </a:ln>
        </p:spPr>
        <p:txBody>
          <a:bodyPr/>
          <a:p/>
        </p:txBody>
      </p:sp>
      <p:sp>
        <p:nvSpPr>
          <p:cNvPr id="40" name="a-bat-fan-label"/>
          <p:cNvSpPr txBox="1"/>
          <p:nvPr/>
        </p:nvSpPr>
        <p:spPr>
          <a:xfrm>
            <a:off x="4576445" y="484632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夜间 0.85 kWh（210W × 4h）</a:t>
            </a:r>
            <a:endParaRPr lang="en-US" sz="1600" noProof="1"/>
          </a:p>
        </p:txBody>
      </p:sp>
      <p:sp>
        <p:nvSpPr>
          <p:cNvPr id="46" name="b-rule"/>
          <p:cNvSpPr/>
          <p:nvPr/>
        </p:nvSpPr>
        <p:spPr>
          <a:xfrm>
            <a:off x="609600" y="5511800"/>
            <a:ext cx="11074400" cy="25400"/>
          </a:xfrm>
          <a:custGeom>
            <a:avLst/>
            <a:gdLst/>
            <a:ahLst/>
            <a:cxnLst/>
            <a:rect l="l" t="t" r="r" b="b"/>
            <a:pathLst>
              <a:path w="872" h="2">
                <a:moveTo>
                  <a:pt x="0" y="1"/>
                </a:moveTo>
                <a:lnTo>
                  <a:pt x="872" y="1"/>
                </a:lnTo>
              </a:path>
            </a:pathLst>
          </a:cu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47" name="m-title"/>
          <p:cNvSpPr txBox="1"/>
          <p:nvPr/>
        </p:nvSpPr>
        <p:spPr>
          <a:xfrm>
            <a:off x="609600" y="5600700"/>
            <a:ext cx="1092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核心维度与建议测算模型</a:t>
            </a: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　设计工况：干球 39℃ · 湿度 35% · 湿球 25.5℃ · 典型制冷日 · 估算值均待实验台标定</a:t>
            </a:r>
            <a:endParaRPr lang="en-US" sz="1600" noProof="1"/>
          </a:p>
        </p:txBody>
      </p:sp>
      <p:graphicFrame>
        <p:nvGraphicFramePr>
          <p:cNvPr id="48" name="tbl-metrics"/>
          <p:cNvGraphicFramePr>
            <a:graphicFrameLocks noGrp="1"/>
          </p:cNvGraphicFramePr>
          <p:nvPr/>
        </p:nvGraphicFramePr>
        <p:xfrm>
          <a:off x="609600" y="5829300"/>
          <a:ext cx="11074400" cy="558800"/>
        </p:xfrm>
        <a:graphic>
          <a:graphicData uri="http://schemas.openxmlformats.org/drawingml/2006/table">
            <a:tbl>
              <a:tblPr/>
              <a:tblGrid>
                <a:gridCol w="1439672"/>
                <a:gridCol w="2547112"/>
                <a:gridCol w="2436368"/>
                <a:gridCol w="2214880"/>
                <a:gridCol w="2436368"/>
              </a:tblGrid>
              <a:tr h="1397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测算维度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融冰速度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出冰 / 出冷时长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蓄能时长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放冷端温度 / 流量</a:t>
                      </a:r>
                      <a:endParaRPr lang="en-US" sz="85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  <a:tr h="1397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003A7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建议测算模型</a:t>
                      </a:r>
                      <a:endParaRPr lang="en-US" sz="850" b="1" noProof="1">
                        <a:solidFill>
                          <a:srgbClr val="003A7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冰量 × 397 kJ/kg ÷ 放冷功率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蓄冰量 ÷ 小时用冰量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储能 1Wh ÷ 0.17 kWh/晚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干球 −（干球−湿球）× 80%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003A7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当前估算（口径）</a:t>
                      </a:r>
                      <a:endParaRPr lang="en-US" sz="850" b="1" noProof="1">
                        <a:solidFill>
                          <a:srgbClr val="003A7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2.42 kg/h（夜间 4h 均摊）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 h（9.7 kg ÷ 2.42 kg/h）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≈ 6 晚（风扇侧续航） </a:t>
                      </a:r>
                      <a:r>
                        <a:rPr lang="zh-CN" alt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单天循环</a:t>
                      </a:r>
                      <a:endParaRPr lang="zh-CN" alt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出风 28.2℃ · 风量待标定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</a:tr>
              <a:tr h="1397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b="1" noProof="1">
                          <a:solidFill>
                            <a:srgbClr val="003A7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验证方式</a:t>
                      </a:r>
                      <a:endParaRPr lang="en-US" sz="850" b="1" noProof="1">
                        <a:solidFill>
                          <a:srgbClr val="003A7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实验台称重计时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实验台标定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充放电实测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风洞 ＋ 温湿度计</a:t>
                      </a:r>
                      <a:endParaRPr lang="en-US" sz="85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b-src"/>
          <p:cNvSpPr txBox="1"/>
          <p:nvPr/>
        </p:nvSpPr>
        <p:spPr>
          <a:xfrm>
            <a:off x="8102600" y="6680200"/>
            <a:ext cx="355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数据来源：光伏冰风扇容量设计计算书（0808 口径）</a:t>
            </a:r>
            <a:endParaRPr lang="en-US" sz="1600" noProof="1"/>
          </a:p>
        </p:txBody>
      </p:sp>
      <p:sp>
        <p:nvSpPr>
          <p:cNvPr id="50" name="Kv7w9I"/>
          <p:cNvSpPr txBox="1"/>
          <p:nvPr/>
        </p:nvSpPr>
        <p:spPr>
          <a:xfrm>
            <a:off x="5655945" y="368808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endParaRPr lang="en-US" sz="1200" noProof="1"/>
          </a:p>
        </p:txBody>
      </p:sp>
      <p:pic>
        <p:nvPicPr>
          <p:cNvPr id="51" name="图片 50" descr="F:\zsy\天合富家\新logo蓝.png新logo蓝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>
          <a:xfrm>
            <a:off x="10355580" y="336550"/>
            <a:ext cx="1514475" cy="500380"/>
          </a:xfrm>
          <a:prstGeom prst="rect">
            <a:avLst/>
          </a:prstGeom>
        </p:spPr>
      </p:pic>
      <p:grpSp>
        <p:nvGrpSpPr>
          <p:cNvPr id="54" name="组合 53"/>
          <p:cNvGrpSpPr/>
          <p:nvPr/>
        </p:nvGrpSpPr>
        <p:grpSpPr>
          <a:xfrm>
            <a:off x="711200" y="1628775"/>
            <a:ext cx="5757545" cy="3809365"/>
            <a:chOff x="1120" y="3200"/>
            <a:chExt cx="13080" cy="5240"/>
          </a:xfrm>
        </p:grpSpPr>
        <p:sp>
          <p:nvSpPr>
            <p:cNvPr id="6" name="n-pv"/>
            <p:cNvSpPr/>
            <p:nvPr/>
          </p:nvSpPr>
          <p:spPr>
            <a:xfrm>
              <a:off x="1120" y="3360"/>
              <a:ext cx="3120" cy="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3A70"/>
              </a:solidFill>
            </a:ln>
          </p:spPr>
        </p:sp>
        <p:sp>
          <p:nvSpPr>
            <p:cNvPr id="7" name="n-pv-t"/>
            <p:cNvSpPr txBox="1"/>
            <p:nvPr/>
          </p:nvSpPr>
          <p:spPr>
            <a:xfrm>
              <a:off x="1120" y="3360"/>
              <a:ext cx="3120" cy="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0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>光伏组件 1,290W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天合 645W × 2 · 日发 4.69 kWh</a:t>
              </a:r>
              <a:endParaRPr lang="en-US" sz="1600" noProof="1"/>
            </a:p>
          </p:txBody>
        </p:sp>
        <p:sp>
          <p:nvSpPr>
            <p:cNvPr id="8" name="n-grid"/>
            <p:cNvSpPr/>
            <p:nvPr/>
          </p:nvSpPr>
          <p:spPr>
            <a:xfrm>
              <a:off x="1120" y="6320"/>
              <a:ext cx="3120" cy="1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5A6572"/>
              </a:solidFill>
              <a:prstDash val="dash"/>
            </a:ln>
          </p:spPr>
        </p:sp>
        <p:sp>
          <p:nvSpPr>
            <p:cNvPr id="9" name="n-grid-t"/>
            <p:cNvSpPr txBox="1"/>
            <p:nvPr/>
          </p:nvSpPr>
          <p:spPr>
            <a:xfrm>
              <a:off x="1120" y="6320"/>
              <a:ext cx="3120" cy="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0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>电网（备用）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市电互补充电器 24V/10A（选配）</a:t>
              </a:r>
              <a:endParaRPr lang="en-US" sz="1600" noProof="1"/>
            </a:p>
          </p:txBody>
        </p:sp>
        <p:sp>
          <p:nvSpPr>
            <p:cNvPr id="10" name="n-inv"/>
            <p:cNvSpPr/>
            <p:nvPr/>
          </p:nvSpPr>
          <p:spPr>
            <a:xfrm>
              <a:off x="5920" y="4680"/>
              <a:ext cx="3200" cy="1520"/>
            </a:xfrm>
            <a:prstGeom prst="rect">
              <a:avLst/>
            </a:prstGeom>
            <a:solidFill>
              <a:srgbClr val="003A70"/>
            </a:solidFill>
            <a:ln>
              <a:noFill/>
            </a:ln>
          </p:spPr>
        </p:sp>
        <p:sp>
          <p:nvSpPr>
            <p:cNvPr id="11" name="n-inv-t"/>
            <p:cNvSpPr txBox="1"/>
            <p:nvPr/>
          </p:nvSpPr>
          <p:spPr>
            <a:xfrm>
              <a:off x="5920" y="4680"/>
              <a:ext cx="3215" cy="1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300" b="1" noProof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MPPT + 逆变器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C9DCEE"/>
                  </a:solidFill>
                  <a:latin typeface="微软雅黑" charset="-122"/>
                  <a:ea typeface="微软雅黑" charset="-122"/>
                </a:rPr>
                <a:t>60A 控制器 · 1,500W 纯正弦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C9DCEE"/>
                  </a:solidFill>
                  <a:latin typeface="微软雅黑" charset="-122"/>
                  <a:ea typeface="微软雅黑" charset="-122"/>
                </a:rPr>
                <a:t>覆盖制冰机压缩机</a:t>
              </a:r>
              <a:endParaRPr lang="en-US" sz="1600" noProof="1"/>
            </a:p>
          </p:txBody>
        </p:sp>
        <p:sp>
          <p:nvSpPr>
            <p:cNvPr id="12" name="a-pv-inv"/>
            <p:cNvSpPr/>
            <p:nvPr/>
          </p:nvSpPr>
          <p:spPr>
            <a:xfrm>
              <a:off x="4240" y="3960"/>
              <a:ext cx="1680" cy="1000"/>
            </a:xfrm>
            <a:custGeom>
              <a:avLst/>
              <a:gdLst/>
              <a:ahLst/>
              <a:cxnLst/>
              <a:rect l="l" t="t" r="r" b="b"/>
              <a:pathLst>
                <a:path w="84" h="50">
                  <a:moveTo>
                    <a:pt x="0" y="0"/>
                  </a:moveTo>
                  <a:lnTo>
                    <a:pt x="42" y="0"/>
                  </a:lnTo>
                  <a:lnTo>
                    <a:pt x="42" y="50"/>
                  </a:lnTo>
                  <a:lnTo>
                    <a:pt x="84" y="50"/>
                  </a:lnTo>
                </a:path>
              </a:pathLst>
            </a:custGeom>
            <a:noFill/>
            <a:ln w="25400">
              <a:solidFill>
                <a:srgbClr val="003A70"/>
              </a:solidFill>
              <a:tailEnd type="stealth"/>
            </a:ln>
          </p:spPr>
        </p:sp>
        <p:sp>
          <p:nvSpPr>
            <p:cNvPr id="13" name="a-grid-inv"/>
            <p:cNvSpPr/>
            <p:nvPr/>
          </p:nvSpPr>
          <p:spPr>
            <a:xfrm>
              <a:off x="4240" y="5920"/>
              <a:ext cx="1680" cy="1000"/>
            </a:xfrm>
            <a:custGeom>
              <a:avLst/>
              <a:gdLst/>
              <a:ahLst/>
              <a:cxnLst/>
              <a:rect l="l" t="t" r="r" b="b"/>
              <a:pathLst>
                <a:path w="84" h="50">
                  <a:moveTo>
                    <a:pt x="0" y="50"/>
                  </a:moveTo>
                  <a:lnTo>
                    <a:pt x="42" y="50"/>
                  </a:lnTo>
                  <a:lnTo>
                    <a:pt x="42" y="0"/>
                  </a:lnTo>
                  <a:lnTo>
                    <a:pt x="84" y="0"/>
                  </a:lnTo>
                </a:path>
              </a:pathLst>
            </a:custGeom>
            <a:noFill/>
            <a:ln w="15240">
              <a:solidFill>
                <a:srgbClr val="5A6572"/>
              </a:solidFill>
              <a:prstDash val="dash"/>
              <a:headEnd type="stealth"/>
              <a:tailEnd type="stealth"/>
            </a:ln>
          </p:spPr>
        </p:sp>
        <p:sp>
          <p:nvSpPr>
            <p:cNvPr id="14" name="n-ice"/>
            <p:cNvSpPr/>
            <p:nvPr/>
          </p:nvSpPr>
          <p:spPr>
            <a:xfrm>
              <a:off x="10800" y="3200"/>
              <a:ext cx="3400" cy="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7FC2"/>
              </a:solidFill>
            </a:ln>
          </p:spPr>
        </p:sp>
        <p:sp>
          <p:nvSpPr>
            <p:cNvPr id="15" name="n-ice-t"/>
            <p:cNvSpPr txBox="1"/>
            <p:nvPr/>
          </p:nvSpPr>
          <p:spPr>
            <a:xfrm>
              <a:off x="10800" y="3200"/>
              <a:ext cx="3400" cy="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5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>制冰机 48kg/24h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400W · 白天 10h 制冰 ≥ 19.4 kg</a:t>
              </a:r>
              <a:endParaRPr lang="en-US" sz="1600" noProof="1"/>
            </a:p>
          </p:txBody>
        </p:sp>
        <p:sp>
          <p:nvSpPr>
            <p:cNvPr id="16" name="n-bat"/>
            <p:cNvSpPr/>
            <p:nvPr/>
          </p:nvSpPr>
          <p:spPr>
            <a:xfrm>
              <a:off x="10800" y="6320"/>
              <a:ext cx="3400" cy="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3A70"/>
              </a:solidFill>
            </a:ln>
          </p:spPr>
        </p:sp>
        <p:sp>
          <p:nvSpPr>
            <p:cNvPr id="17" name="n-bat-t"/>
            <p:cNvSpPr txBox="1"/>
            <p:nvPr/>
          </p:nvSpPr>
          <p:spPr>
            <a:xfrm>
              <a:off x="10800" y="6320"/>
              <a:ext cx="3400" cy="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5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>储能 1/2 kWh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25.6V/50Ah 磷酸铁锂 · 约 6 晚续航</a:t>
              </a:r>
              <a:endParaRPr lang="en-US" sz="1600" noProof="1"/>
            </a:p>
          </p:txBody>
        </p:sp>
        <p:sp>
          <p:nvSpPr>
            <p:cNvPr id="18" name="a-inv-ice"/>
            <p:cNvSpPr/>
            <p:nvPr/>
          </p:nvSpPr>
          <p:spPr>
            <a:xfrm>
              <a:off x="9120" y="3800"/>
              <a:ext cx="1680" cy="1160"/>
            </a:xfrm>
            <a:custGeom>
              <a:avLst/>
              <a:gdLst/>
              <a:ahLst/>
              <a:cxnLst/>
              <a:rect l="l" t="t" r="r" b="b"/>
              <a:pathLst>
                <a:path w="84" h="58">
                  <a:moveTo>
                    <a:pt x="0" y="58"/>
                  </a:moveTo>
                  <a:lnTo>
                    <a:pt x="42" y="58"/>
                  </a:lnTo>
                  <a:lnTo>
                    <a:pt x="42" y="0"/>
                  </a:lnTo>
                  <a:lnTo>
                    <a:pt x="84" y="0"/>
                  </a:lnTo>
                </a:path>
              </a:pathLst>
            </a:custGeom>
            <a:noFill/>
            <a:ln w="25400">
              <a:solidFill>
                <a:srgbClr val="003A70"/>
              </a:solidFill>
              <a:tailEnd type="stealth"/>
            </a:ln>
          </p:spPr>
        </p:sp>
        <p:sp>
          <p:nvSpPr>
            <p:cNvPr id="19" name="a-inv-ice-label"/>
            <p:cNvSpPr txBox="1"/>
            <p:nvPr/>
          </p:nvSpPr>
          <p:spPr>
            <a:xfrm>
              <a:off x="8369" y="3474"/>
              <a:ext cx="1920" cy="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/>
            <a:lstStyle/>
            <a:p>
              <a:pPr>
                <a:lnSpc>
                  <a:spcPct val="120000"/>
                </a:lnSpc>
              </a:pPr>
              <a:r>
                <a:rPr lang="en-US" sz="950" noProof="1">
                  <a:solidFill>
                    <a:srgbClr val="2E7FC2"/>
                  </a:solidFill>
                  <a:latin typeface="微软雅黑" charset="-122"/>
                  <a:ea typeface="微软雅黑" charset="-122"/>
                </a:rPr>
                <a:t>白天 5h · 1.94 kWh</a:t>
              </a:r>
              <a:endParaRPr lang="en-US" sz="1600" noProof="1"/>
            </a:p>
          </p:txBody>
        </p:sp>
        <p:sp>
          <p:nvSpPr>
            <p:cNvPr id="20" name="a-inv-bat"/>
            <p:cNvSpPr/>
            <p:nvPr/>
          </p:nvSpPr>
          <p:spPr>
            <a:xfrm>
              <a:off x="9120" y="5920"/>
              <a:ext cx="1680" cy="1000"/>
            </a:xfrm>
            <a:custGeom>
              <a:avLst/>
              <a:gdLst/>
              <a:ahLst/>
              <a:cxnLst/>
              <a:rect l="l" t="t" r="r" b="b"/>
              <a:pathLst>
                <a:path w="84" h="50">
                  <a:moveTo>
                    <a:pt x="0" y="0"/>
                  </a:moveTo>
                  <a:lnTo>
                    <a:pt x="42" y="0"/>
                  </a:lnTo>
                  <a:lnTo>
                    <a:pt x="42" y="50"/>
                  </a:lnTo>
                  <a:lnTo>
                    <a:pt x="84" y="50"/>
                  </a:lnTo>
                </a:path>
              </a:pathLst>
            </a:custGeom>
            <a:noFill/>
            <a:ln w="25400">
              <a:solidFill>
                <a:srgbClr val="003A70"/>
              </a:solidFill>
              <a:headEnd type="stealth"/>
              <a:tailEnd type="stealth"/>
            </a:ln>
          </p:spPr>
        </p:sp>
        <p:sp>
          <p:nvSpPr>
            <p:cNvPr id="41" name="lg-line1"/>
            <p:cNvSpPr/>
            <p:nvPr/>
          </p:nvSpPr>
          <p:spPr>
            <a:xfrm>
              <a:off x="1120" y="8240"/>
              <a:ext cx="520" cy="120"/>
            </a:xfrm>
            <a:custGeom>
              <a:avLst/>
              <a:gdLst/>
              <a:ahLst/>
              <a:cxnLst/>
              <a:rect l="l" t="t" r="r" b="b"/>
              <a:pathLst>
                <a:path w="26" h="6">
                  <a:moveTo>
                    <a:pt x="0" y="3"/>
                  </a:moveTo>
                  <a:lnTo>
                    <a:pt x="26" y="3"/>
                  </a:lnTo>
                </a:path>
              </a:pathLst>
            </a:custGeom>
            <a:noFill/>
            <a:ln w="25400">
              <a:solidFill>
                <a:srgbClr val="003A70"/>
              </a:solidFill>
              <a:tailEnd type="stealth"/>
            </a:ln>
          </p:spPr>
        </p:sp>
        <p:sp>
          <p:nvSpPr>
            <p:cNvPr id="42" name="lg-t1"/>
            <p:cNvSpPr txBox="1"/>
            <p:nvPr/>
          </p:nvSpPr>
          <p:spPr>
            <a:xfrm>
              <a:off x="1760" y="8160"/>
              <a:ext cx="1400" cy="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/>
            <a:lstStyle/>
            <a:p>
              <a:pPr>
                <a:lnSpc>
                  <a:spcPct val="120000"/>
                </a:lnSpc>
              </a:pPr>
              <a:r>
                <a:rPr lang="en-US" sz="100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电力流</a:t>
              </a:r>
              <a:endParaRPr lang="en-US" sz="1600" noProof="1"/>
            </a:p>
          </p:txBody>
        </p:sp>
        <p:sp>
          <p:nvSpPr>
            <p:cNvPr id="43" name="lg-line2"/>
            <p:cNvSpPr/>
            <p:nvPr/>
          </p:nvSpPr>
          <p:spPr>
            <a:xfrm>
              <a:off x="2920" y="8240"/>
              <a:ext cx="520" cy="120"/>
            </a:xfrm>
            <a:custGeom>
              <a:avLst/>
              <a:gdLst/>
              <a:ahLst/>
              <a:cxnLst/>
              <a:rect l="l" t="t" r="r" b="b"/>
              <a:pathLst>
                <a:path w="26" h="6">
                  <a:moveTo>
                    <a:pt x="0" y="3"/>
                  </a:moveTo>
                  <a:lnTo>
                    <a:pt x="26" y="3"/>
                  </a:lnTo>
                </a:path>
              </a:pathLst>
            </a:custGeom>
            <a:noFill/>
            <a:ln w="19050">
              <a:solidFill>
                <a:srgbClr val="2E7FC2"/>
              </a:solidFill>
              <a:prstDash val="dash"/>
              <a:tailEnd type="stealth"/>
            </a:ln>
          </p:spPr>
        </p:sp>
        <p:sp>
          <p:nvSpPr>
            <p:cNvPr id="44" name="lg-t2"/>
            <p:cNvSpPr txBox="1"/>
            <p:nvPr/>
          </p:nvSpPr>
          <p:spPr>
            <a:xfrm>
              <a:off x="3560" y="8160"/>
              <a:ext cx="1400" cy="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/>
            <a:lstStyle/>
            <a:p>
              <a:pPr>
                <a:lnSpc>
                  <a:spcPct val="120000"/>
                </a:lnSpc>
              </a:pPr>
              <a:r>
                <a:rPr lang="en-US" sz="100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冷量流</a:t>
              </a:r>
              <a:endParaRPr lang="en-US" sz="1600" noProof="1"/>
            </a:p>
          </p:txBody>
        </p:sp>
        <p:sp>
          <p:nvSpPr>
            <p:cNvPr id="45" name="lg-t3"/>
            <p:cNvSpPr txBox="1"/>
            <p:nvPr/>
          </p:nvSpPr>
          <p:spPr>
            <a:xfrm>
              <a:off x="4960" y="8160"/>
              <a:ext cx="9200" cy="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/>
            <a:lstStyle/>
            <a:p>
              <a:pPr>
                <a:lnSpc>
                  <a:spcPct val="120000"/>
                </a:lnSpc>
              </a:pPr>
              <a:r>
                <a:rPr lang="en-US" sz="100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虚线框＝冷量链路 · 制冰白天由光伏直供，风扇夜间由储能供电</a:t>
              </a:r>
              <a:endParaRPr lang="en-US" sz="1600" noProof="1"/>
            </a:p>
          </p:txBody>
        </p:sp>
        <p:sp>
          <p:nvSpPr>
            <p:cNvPr id="52" name="n-ice"/>
            <p:cNvSpPr/>
            <p:nvPr/>
          </p:nvSpPr>
          <p:spPr>
            <a:xfrm>
              <a:off x="10800" y="4480"/>
              <a:ext cx="3400" cy="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2E7FC2"/>
              </a:solidFill>
            </a:ln>
          </p:spPr>
        </p:sp>
        <p:sp>
          <p:nvSpPr>
            <p:cNvPr id="53" name="n-ice-t"/>
            <p:cNvSpPr txBox="1"/>
            <p:nvPr/>
          </p:nvSpPr>
          <p:spPr>
            <a:xfrm>
              <a:off x="10800" y="4480"/>
              <a:ext cx="3400" cy="1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25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>冰柜</a:t>
              </a:r>
              <a:r>
                <a:rPr lang="en-US" sz="1250" b="1" noProof="1">
                  <a:solidFill>
                    <a:srgbClr val="1F2933"/>
                  </a:solidFill>
                  <a:latin typeface="微软雅黑" charset="-122"/>
                  <a:ea typeface="微软雅黑" charset="-122"/>
                </a:rPr>
                <a:t> 50kg/24h</a:t>
              </a:r>
              <a:endParaRPr lang="en-US" sz="1600" noProof="1"/>
            </a:p>
            <a:p>
              <a:pPr algn="ctr">
                <a:lnSpc>
                  <a:spcPct val="120000"/>
                </a:lnSpc>
              </a:pPr>
              <a:r>
                <a:rPr lang="en-US" sz="1050" noProof="1">
                  <a:solidFill>
                    <a:srgbClr val="5A6572"/>
                  </a:solidFill>
                  <a:latin typeface="微软雅黑" charset="-122"/>
                  <a:ea typeface="微软雅黑" charset="-122"/>
                </a:rPr>
                <a:t>430W · 白天 1h 制冰 ≥ 2kg</a:t>
              </a:r>
              <a:endParaRPr lang="en-US" sz="1600" noProof="1"/>
            </a:p>
          </p:txBody>
        </p:sp>
      </p:grpSp>
      <p:sp>
        <p:nvSpPr>
          <p:cNvPr id="55" name="l-title"/>
          <p:cNvSpPr txBox="1"/>
          <p:nvPr/>
        </p:nvSpPr>
        <p:spPr>
          <a:xfrm>
            <a:off x="9237345" y="1645920"/>
            <a:ext cx="249682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夜间冷量平衡（19,220 kJ / 晚）</a:t>
            </a:r>
            <a:endParaRPr lang="en-US" sz="1600" noProof="1"/>
          </a:p>
        </p:txBody>
      </p:sp>
      <p:graphicFrame>
        <p:nvGraphicFramePr>
          <p:cNvPr id="56" name="chart-cold"/>
          <p:cNvGraphicFramePr/>
          <p:nvPr/>
        </p:nvGraphicFramePr>
        <p:xfrm>
          <a:off x="9215120" y="1899920"/>
          <a:ext cx="2628265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7" name="l-note"/>
          <p:cNvSpPr txBox="1"/>
          <p:nvPr/>
        </p:nvSpPr>
        <p:spPr>
          <a:xfrm>
            <a:off x="9284970" y="4490720"/>
            <a:ext cx="257556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冰块补足冷量 3,844 kJ ÷ 每公斤有效冷量 397 kJ（潜热 334 + 显热 63）＝ </a:t>
            </a:r>
            <a:r>
              <a:rPr lang="en-US" sz="10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9.68 kg/晚</a:t>
            </a: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，即 2.42 kg/h；蒸发水箱需求 6.3 L ＞ 机带 4.7 L，需中途补水或外接 10L 水箱。</a:t>
            </a:r>
            <a:endParaRPr lang="en-US" sz="1050" noProof="1"/>
          </a:p>
        </p:txBody>
      </p:sp>
      <p:sp>
        <p:nvSpPr>
          <p:cNvPr id="59" name="l-title2"/>
          <p:cNvSpPr txBox="1"/>
          <p:nvPr/>
        </p:nvSpPr>
        <p:spPr>
          <a:xfrm>
            <a:off x="2252980" y="3956685"/>
            <a:ext cx="157861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8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多台扩展核算（同工况）</a:t>
            </a:r>
            <a:endParaRPr lang="en-US" sz="800" b="1" noProof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60" name="tbl-scale"/>
          <p:cNvGraphicFramePr>
            <a:graphicFrameLocks noGrp="1"/>
          </p:cNvGraphicFramePr>
          <p:nvPr/>
        </p:nvGraphicFramePr>
        <p:xfrm>
          <a:off x="2252980" y="4210685"/>
          <a:ext cx="2327275" cy="1356360"/>
        </p:xfrm>
        <a:graphic>
          <a:graphicData uri="http://schemas.openxmlformats.org/drawingml/2006/table">
            <a:tbl>
              <a:tblPr/>
              <a:tblGrid>
                <a:gridCol w="465455"/>
                <a:gridCol w="465455"/>
                <a:gridCol w="465455"/>
                <a:gridCol w="465455"/>
                <a:gridCol w="465455"/>
              </a:tblGrid>
              <a:tr h="3429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台数</a:t>
                      </a:r>
                      <a:endParaRPr lang="en-US" sz="8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用冰量</a:t>
                      </a:r>
                      <a:endParaRPr lang="en-US" sz="8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日均能耗</a:t>
                      </a:r>
                      <a:endParaRPr lang="en-US" sz="8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制冰机</a:t>
                      </a:r>
                      <a:endParaRPr lang="en-US" sz="8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组件下限</a:t>
                      </a:r>
                      <a:endParaRPr lang="en-US" sz="8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  <a:tr h="3429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 → 4 台</a:t>
                      </a:r>
                      <a:endParaRPr lang="en-US" sz="8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9.7 → 38.7 kg/晚</a:t>
                      </a:r>
                      <a:endParaRPr lang="en-US" sz="8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2.1 → 8.4 kWh</a:t>
                      </a:r>
                      <a:endParaRPr lang="en-US" sz="8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 → 4 台</a:t>
                      </a:r>
                      <a:endParaRPr lang="en-US" sz="8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625 → 2,500 W</a:t>
                      </a:r>
                      <a:endParaRPr lang="en-US" sz="8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</p:spPr>
        <p:txBody>
          <a:bodyPr/>
          <a:p/>
        </p:txBody>
      </p:sp>
      <p:sp>
        <p:nvSpPr>
          <p:cNvPr id="3" name="hdr-title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  <a:cs typeface="微软雅黑" charset="-122"/>
              </a:rPr>
              <a:t>冰水制冷系统（30㎡）：全屋扩展架构与成本拆解</a:t>
            </a:r>
            <a:endParaRPr lang="en-US" sz="2500" b="1" noProof="1">
              <a:solidFill>
                <a:srgbClr val="003A7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hdr-sub"/>
          <p:cNvSpPr txBox="1"/>
          <p:nvPr/>
        </p:nvSpPr>
        <p:spPr>
          <a:xfrm>
            <a:off x="609600" y="1219200"/>
            <a:ext cx="1054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在单间标准包上加装 30㎡ 扩展包 · 水罐蓄冷 + 盘管换热 + 水泵循环 · 核心件约 ¥1,800~3,100</a:t>
            </a:r>
            <a:endParaRPr lang="en-US" sz="1250" noProof="1">
              <a:solidFill>
                <a:srgbClr val="5A657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hdr-page"/>
          <p:cNvSpPr txBox="1"/>
          <p:nvPr/>
        </p:nvSpPr>
        <p:spPr>
          <a:xfrm>
            <a:off x="11176000" y="80137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02 / 27</a:t>
            </a:r>
            <a:endParaRPr lang="en-US" sz="1250" noProof="1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d-src"/>
          <p:cNvSpPr/>
          <p:nvPr/>
        </p:nvSpPr>
        <p:spPr>
          <a:xfrm>
            <a:off x="1527810" y="1752600"/>
            <a:ext cx="25400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A70"/>
            </a:solidFill>
          </a:ln>
        </p:spPr>
        <p:txBody>
          <a:bodyPr/>
          <a:p/>
        </p:txBody>
      </p:sp>
      <p:sp>
        <p:nvSpPr>
          <p:cNvPr id="7" name="d-src-t"/>
          <p:cNvSpPr txBox="1"/>
          <p:nvPr/>
        </p:nvSpPr>
        <p:spPr>
          <a:xfrm>
            <a:off x="1527810" y="17526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1F2933"/>
                </a:solidFill>
                <a:latin typeface="微软雅黑" charset="-122"/>
                <a:ea typeface="微软雅黑" charset="-122"/>
                <a:cs typeface="微软雅黑" charset="-122"/>
              </a:rPr>
              <a:t>光伏 + 制冰机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标准包沿用 · 白天 5h 制冰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a1"/>
          <p:cNvSpPr/>
          <p:nvPr/>
        </p:nvSpPr>
        <p:spPr>
          <a:xfrm>
            <a:off x="2772410" y="2463800"/>
            <a:ext cx="76200" cy="279400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3" y="0"/>
                </a:moveTo>
                <a:lnTo>
                  <a:pt x="3" y="22"/>
                </a:lnTo>
              </a:path>
            </a:pathLst>
          </a:custGeom>
          <a:noFill/>
          <a:ln w="1905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9" name="a1-label"/>
          <p:cNvSpPr txBox="1"/>
          <p:nvPr/>
        </p:nvSpPr>
        <p:spPr>
          <a:xfrm>
            <a:off x="4245610" y="24892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冰块 / 冷水</a:t>
            </a:r>
            <a:endParaRPr lang="en-US" sz="950" noProof="1">
              <a:solidFill>
                <a:srgbClr val="2E7FC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" name="d-tank"/>
          <p:cNvSpPr/>
          <p:nvPr/>
        </p:nvSpPr>
        <p:spPr>
          <a:xfrm>
            <a:off x="1527810" y="2794000"/>
            <a:ext cx="2540000" cy="711200"/>
          </a:xfrm>
          <a:prstGeom prst="rect">
            <a:avLst/>
          </a:prstGeom>
          <a:solidFill>
            <a:srgbClr val="003A70"/>
          </a:solidFill>
          <a:ln>
            <a:noFill/>
          </a:ln>
        </p:spPr>
        <p:txBody>
          <a:bodyPr/>
          <a:p/>
        </p:txBody>
      </p:sp>
      <p:sp>
        <p:nvSpPr>
          <p:cNvPr id="11" name="d-tank-t"/>
          <p:cNvSpPr txBox="1"/>
          <p:nvPr/>
        </p:nvSpPr>
        <p:spPr>
          <a:xfrm>
            <a:off x="1527810" y="2794000"/>
            <a:ext cx="254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保温储冷水罐 1.5 吨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C9DCEE"/>
                </a:solidFill>
                <a:latin typeface="微软雅黑" charset="-122"/>
                <a:ea typeface="微软雅黑" charset="-122"/>
                <a:cs typeface="微软雅黑" charset="-122"/>
              </a:rPr>
              <a:t>约 ¥1,300 · 白天蓄冷 · 夜间释冷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a2"/>
          <p:cNvSpPr/>
          <p:nvPr/>
        </p:nvSpPr>
        <p:spPr>
          <a:xfrm>
            <a:off x="2772410" y="3556000"/>
            <a:ext cx="76200" cy="279400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3" y="0"/>
                </a:moveTo>
                <a:lnTo>
                  <a:pt x="3" y="22"/>
                </a:lnTo>
              </a:path>
            </a:pathLst>
          </a:custGeom>
          <a:noFill/>
          <a:ln w="1905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13" name="a2-label"/>
          <p:cNvSpPr txBox="1"/>
          <p:nvPr/>
        </p:nvSpPr>
        <p:spPr>
          <a:xfrm>
            <a:off x="4245610" y="35814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冷水 5~12℃</a:t>
            </a:r>
            <a:endParaRPr lang="en-US" sz="950" noProof="1">
              <a:solidFill>
                <a:srgbClr val="2E7FC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d-pump"/>
          <p:cNvSpPr/>
          <p:nvPr/>
        </p:nvSpPr>
        <p:spPr>
          <a:xfrm>
            <a:off x="1527810" y="3886200"/>
            <a:ext cx="25400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A70"/>
            </a:solidFill>
          </a:ln>
        </p:spPr>
        <p:txBody>
          <a:bodyPr/>
          <a:p/>
        </p:txBody>
      </p:sp>
      <p:sp>
        <p:nvSpPr>
          <p:cNvPr id="15" name="d-pump-t"/>
          <p:cNvSpPr txBox="1"/>
          <p:nvPr/>
        </p:nvSpPr>
        <p:spPr>
          <a:xfrm>
            <a:off x="1527810" y="38862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1F2933"/>
                </a:solidFill>
                <a:latin typeface="微软雅黑" charset="-122"/>
                <a:ea typeface="微软雅黑" charset="-122"/>
                <a:cs typeface="微软雅黑" charset="-122"/>
              </a:rPr>
              <a:t>微型水泵 2.0~2.5m³/h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约 ¥500~1,500 · 夜间循环驱动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" name="a3"/>
          <p:cNvSpPr/>
          <p:nvPr/>
        </p:nvSpPr>
        <p:spPr>
          <a:xfrm>
            <a:off x="2772410" y="4597400"/>
            <a:ext cx="76200" cy="279400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3" y="0"/>
                </a:moveTo>
                <a:lnTo>
                  <a:pt x="3" y="22"/>
                </a:lnTo>
              </a:path>
            </a:pathLst>
          </a:custGeom>
          <a:noFill/>
          <a:ln w="1905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17" name="a3-label"/>
          <p:cNvSpPr txBox="1"/>
          <p:nvPr/>
        </p:nvSpPr>
        <p:spPr>
          <a:xfrm>
            <a:off x="4245610" y="4622800"/>
            <a:ext cx="165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50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加压循环</a:t>
            </a:r>
            <a:endParaRPr lang="en-US" sz="950" noProof="1">
              <a:solidFill>
                <a:srgbClr val="2E7FC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8" name="d-coil"/>
          <p:cNvSpPr/>
          <p:nvPr/>
        </p:nvSpPr>
        <p:spPr>
          <a:xfrm>
            <a:off x="1527810" y="4927600"/>
            <a:ext cx="2540000" cy="66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A70"/>
            </a:solidFill>
          </a:ln>
        </p:spPr>
        <p:txBody>
          <a:bodyPr/>
          <a:p/>
        </p:txBody>
      </p:sp>
      <p:sp>
        <p:nvSpPr>
          <p:cNvPr id="19" name="d-coil-t"/>
          <p:cNvSpPr txBox="1"/>
          <p:nvPr/>
        </p:nvSpPr>
        <p:spPr>
          <a:xfrm>
            <a:off x="1527810" y="4927600"/>
            <a:ext cx="254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noProof="1">
                <a:solidFill>
                  <a:srgbClr val="1F2933"/>
                </a:solidFill>
                <a:latin typeface="微软雅黑" charset="-122"/>
                <a:ea typeface="微软雅黑" charset="-122"/>
                <a:cs typeface="微软雅黑" charset="-122"/>
              </a:rPr>
              <a:t>风机盘管 1.2㎡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铝管/铜管 · 约 ¥100~200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0" name="a4"/>
          <p:cNvSpPr/>
          <p:nvPr/>
        </p:nvSpPr>
        <p:spPr>
          <a:xfrm>
            <a:off x="2772410" y="5638800"/>
            <a:ext cx="76200" cy="228600"/>
          </a:xfrm>
          <a:custGeom>
            <a:avLst/>
            <a:gdLst/>
            <a:ahLst/>
            <a:cxnLst/>
            <a:rect l="l" t="t" r="r" b="b"/>
            <a:pathLst>
              <a:path w="6" h="18">
                <a:moveTo>
                  <a:pt x="3" y="0"/>
                </a:moveTo>
                <a:lnTo>
                  <a:pt x="3" y="18"/>
                </a:lnTo>
              </a:path>
            </a:pathLst>
          </a:custGeom>
          <a:noFill/>
          <a:ln w="19050">
            <a:solidFill>
              <a:srgbClr val="2E7FC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21" name="d-room"/>
          <p:cNvSpPr/>
          <p:nvPr/>
        </p:nvSpPr>
        <p:spPr>
          <a:xfrm>
            <a:off x="1527810" y="5892800"/>
            <a:ext cx="2540000" cy="3810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  <a:prstDash val="dash"/>
          </a:ln>
        </p:spPr>
        <p:txBody>
          <a:bodyPr/>
          <a:p/>
        </p:txBody>
      </p:sp>
      <p:sp>
        <p:nvSpPr>
          <p:cNvPr id="22" name="d-room-t"/>
          <p:cNvSpPr txBox="1"/>
          <p:nvPr/>
        </p:nvSpPr>
        <p:spPr>
          <a:xfrm>
            <a:off x="1527810" y="58928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50" b="1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70㎡ 全屋送冷 · 夜间 6~8h</a:t>
            </a:r>
            <a:endParaRPr lang="en-US" sz="1150" b="1" noProof="1">
              <a:solidFill>
                <a:srgbClr val="2E7FC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3" name="a-return"/>
          <p:cNvSpPr/>
          <p:nvPr/>
        </p:nvSpPr>
        <p:spPr>
          <a:xfrm>
            <a:off x="765810" y="3149600"/>
            <a:ext cx="711200" cy="2057400"/>
          </a:xfrm>
          <a:custGeom>
            <a:avLst/>
            <a:gdLst/>
            <a:ahLst/>
            <a:cxnLst/>
            <a:rect l="l" t="t" r="r" b="b"/>
            <a:pathLst>
              <a:path w="56" h="162">
                <a:moveTo>
                  <a:pt x="56" y="162"/>
                </a:moveTo>
                <a:lnTo>
                  <a:pt x="0" y="162"/>
                </a:lnTo>
                <a:lnTo>
                  <a:pt x="0" y="0"/>
                </a:lnTo>
                <a:lnTo>
                  <a:pt x="56" y="0"/>
                </a:lnTo>
              </a:path>
            </a:pathLst>
          </a:custGeom>
          <a:noFill/>
          <a:ln w="15240">
            <a:solidFill>
              <a:srgbClr val="5A6572"/>
            </a:solidFill>
            <a:prstDash val="dash"/>
            <a:tailEnd type="stealth"/>
          </a:ln>
        </p:spPr>
        <p:txBody>
          <a:bodyPr/>
          <a:p/>
        </p:txBody>
      </p:sp>
      <p:sp>
        <p:nvSpPr>
          <p:cNvPr id="24" name="a-return-label"/>
          <p:cNvSpPr txBox="1"/>
          <p:nvPr/>
        </p:nvSpPr>
        <p:spPr>
          <a:xfrm>
            <a:off x="-72390" y="40894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回水</a:t>
            </a:r>
            <a:endParaRPr lang="en-US" sz="950" noProof="1"/>
          </a:p>
        </p:txBody>
      </p:sp>
      <p:sp>
        <p:nvSpPr>
          <p:cNvPr id="25" name="d-caption"/>
          <p:cNvSpPr txBox="1"/>
          <p:nvPr/>
        </p:nvSpPr>
        <p:spPr>
          <a:xfrm>
            <a:off x="609600" y="6324600"/>
            <a:ext cx="596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虚线＝冷量流 · 水罐为全屋场景扩展核心件，标准包结构不变</a:t>
            </a:r>
            <a:endParaRPr lang="en-US" sz="1000" noProof="1">
              <a:solidFill>
                <a:srgbClr val="5A657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6" name="r-rule"/>
          <p:cNvSpPr/>
          <p:nvPr/>
        </p:nvSpPr>
        <p:spPr>
          <a:xfrm>
            <a:off x="4982845" y="1676400"/>
            <a:ext cx="25400" cy="4673600"/>
          </a:xfrm>
          <a:custGeom>
            <a:avLst/>
            <a:gdLst/>
            <a:ahLst/>
            <a:cxnLst/>
            <a:rect l="l" t="t" r="r" b="b"/>
            <a:pathLst>
              <a:path w="2" h="368">
                <a:moveTo>
                  <a:pt x="1" y="0"/>
                </a:moveTo>
                <a:lnTo>
                  <a:pt x="1" y="368"/>
                </a:lnTo>
              </a:path>
            </a:pathLst>
          </a:cu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27" name="r-title1"/>
          <p:cNvSpPr txBox="1"/>
          <p:nvPr/>
        </p:nvSpPr>
        <p:spPr>
          <a:xfrm>
            <a:off x="5287645" y="16764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A70"/>
                </a:solidFill>
                <a:latin typeface="微软雅黑" charset="-122"/>
                <a:ea typeface="微软雅黑" charset="-122"/>
                <a:cs typeface="微软雅黑" charset="-122"/>
              </a:rPr>
              <a:t>30㎡ 扩展包成本拆解</a:t>
            </a:r>
            <a:endParaRPr lang="en-US" sz="1300" b="1" noProof="1">
              <a:solidFill>
                <a:srgbClr val="003A7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graphicFrame>
        <p:nvGraphicFramePr>
          <p:cNvPr id="28" name="r-cost"/>
          <p:cNvGraphicFramePr>
            <a:graphicFrameLocks noGrp="1"/>
          </p:cNvGraphicFramePr>
          <p:nvPr/>
        </p:nvGraphicFramePr>
        <p:xfrm>
          <a:off x="5287645" y="2006600"/>
          <a:ext cx="3940810" cy="1920240"/>
        </p:xfrm>
        <a:graphic>
          <a:graphicData uri="http://schemas.openxmlformats.org/drawingml/2006/table">
            <a:tbl>
              <a:tblPr/>
              <a:tblGrid>
                <a:gridCol w="1339850"/>
                <a:gridCol w="1400810"/>
                <a:gridCol w="1200150"/>
              </a:tblGrid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部件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参考价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保温储冷水罐</a:t>
                      </a:r>
                      <a:endParaRPr lang="en-US" sz="1000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1.5 吨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约 ¥1,300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微型水泵</a:t>
                      </a:r>
                      <a:endParaRPr lang="en-US" sz="1000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流量 2.0~2.5m³/h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约 ¥500~1,500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风机盘管</a:t>
                      </a:r>
                      <a:endParaRPr lang="en-US" sz="1000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1.2㎡ 铝管/铜管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约 ¥100~200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</a:tr>
              <a:tr h="3810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核心件合计</a:t>
                      </a:r>
                      <a:endParaRPr lang="en-US" sz="1000" b="1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不含安装与管路辅材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b="1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¥1,800~3,100</a:t>
                      </a:r>
                      <a:endParaRPr lang="en-US" sz="1000" b="1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29" name="r-title2"/>
          <p:cNvSpPr txBox="1"/>
          <p:nvPr/>
        </p:nvSpPr>
        <p:spPr>
          <a:xfrm>
            <a:off x="5287645" y="4191000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A70"/>
                </a:solidFill>
                <a:latin typeface="微软雅黑" charset="-122"/>
                <a:ea typeface="微软雅黑" charset="-122"/>
                <a:cs typeface="微软雅黑" charset="-122"/>
              </a:rPr>
              <a:t>单间 → 全屋 两级产品矩阵</a:t>
            </a:r>
            <a:endParaRPr lang="en-US" sz="1300" b="1" noProof="1">
              <a:solidFill>
                <a:srgbClr val="003A7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graphicFrame>
        <p:nvGraphicFramePr>
          <p:cNvPr id="30" name="r-matrix"/>
          <p:cNvGraphicFramePr>
            <a:graphicFrameLocks noGrp="1"/>
          </p:cNvGraphicFramePr>
          <p:nvPr/>
        </p:nvGraphicFramePr>
        <p:xfrm>
          <a:off x="5287645" y="4521200"/>
          <a:ext cx="3940810" cy="1422400"/>
        </p:xfrm>
        <a:graphic>
          <a:graphicData uri="http://schemas.openxmlformats.org/drawingml/2006/table">
            <a:tbl>
              <a:tblPr/>
              <a:tblGrid>
                <a:gridCol w="828040"/>
                <a:gridCol w="1024255"/>
                <a:gridCol w="1064260"/>
                <a:gridCol w="1024255"/>
              </a:tblGrid>
              <a:tr h="42672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级别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场景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供冷方式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成本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  <a:tr h="49784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单间标准包</a:t>
                      </a:r>
                      <a:endParaRPr lang="en-US" sz="1000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15㎡ 卧室 · 1 人 1 台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冰风扇</a:t>
                      </a:r>
                      <a:r>
                        <a:rPr lang="zh-CN" alt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（验证</a:t>
                      </a:r>
                      <a:r>
                        <a:rPr lang="zh-CN" alt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中）</a:t>
                      </a:r>
                      <a:endParaRPr lang="zh-CN" alt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¥5,669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</a:tr>
              <a:tr h="49784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danshi扩展包</a:t>
                      </a:r>
                      <a:endParaRPr lang="en-US" sz="1000" noProof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30㎡ </a:t>
                      </a:r>
                      <a:r>
                        <a:rPr lang="zh-CN" alt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双</a:t>
                      </a:r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屋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水罐 + 盘管 + 水泵循环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+¥1,800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l"/>
                      <a:r>
                        <a:rPr lang="en-US" sz="1000" noProof="1">
                          <a:solidFill>
                            <a:srgbClr val="333333"/>
                          </a:solidFill>
                          <a:latin typeface="微软雅黑" charset="-122"/>
                          <a:ea typeface="微软雅黑" charset="-122"/>
                        </a:rPr>
                        <a:t>~3,100</a:t>
                      </a:r>
                      <a:endParaRPr lang="en-US" sz="1000" noProof="1">
                        <a:solidFill>
                          <a:srgbClr val="3333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r-note"/>
          <p:cNvSpPr txBox="1"/>
          <p:nvPr/>
        </p:nvSpPr>
        <p:spPr>
          <a:xfrm>
            <a:off x="5287645" y="604520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全屋冰水方案 = 标准包 + 扩展包，增量成本极低</a:t>
            </a:r>
            <a:endParaRPr lang="en-US" sz="1000" noProof="1">
              <a:solidFill>
                <a:srgbClr val="5A657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2" name="f-rule"/>
          <p:cNvSpPr/>
          <p:nvPr/>
        </p:nvSpPr>
        <p:spPr>
          <a:xfrm>
            <a:off x="609600" y="6527800"/>
            <a:ext cx="11074400" cy="25400"/>
          </a:xfrm>
          <a:custGeom>
            <a:avLst/>
            <a:gdLst/>
            <a:ahLst/>
            <a:cxnLst/>
            <a:rect l="l" t="t" r="r" b="b"/>
            <a:pathLst>
              <a:path w="872" h="2">
                <a:moveTo>
                  <a:pt x="0" y="1"/>
                </a:moveTo>
                <a:lnTo>
                  <a:pt x="872" y="1"/>
                </a:lnTo>
              </a:path>
            </a:pathLst>
          </a:cu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33" name="f-src"/>
          <p:cNvSpPr txBox="1"/>
          <p:nvPr/>
        </p:nvSpPr>
        <p:spPr>
          <a:xfrm>
            <a:off x="609600" y="6604000"/>
            <a:ext cx="11049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数据来源：水罐/盘管/水泵为 70㎡ 场景估算口径（水罐按 1~2 吨区间 1,200~1,400 元取中值）· 增量成本仅核心件口径，安装与管路辅材另计</a:t>
            </a:r>
            <a:endParaRPr lang="en-US" sz="900" noProof="1">
              <a:solidFill>
                <a:srgbClr val="5A6572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4" name="r-title"/>
          <p:cNvSpPr txBox="1"/>
          <p:nvPr/>
        </p:nvSpPr>
        <p:spPr>
          <a:xfrm>
            <a:off x="9426575" y="1676400"/>
            <a:ext cx="240538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核算结果与配置校核</a:t>
            </a:r>
            <a:endParaRPr lang="en-US" sz="1300" b="1" noProof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5" name="r-item1"/>
          <p:cNvSpPr txBox="1"/>
          <p:nvPr/>
        </p:nvSpPr>
        <p:spPr>
          <a:xfrm>
            <a:off x="9426575" y="2032000"/>
            <a:ext cx="240538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用冰量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9.68 kg/(人·晚) · 0.65 kg/(㎡·晚)（15㎡）；面积 10~25㎡ 时单平米用冰 0.39~0.97 kg，随面积增大摊薄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6" name="r-item2"/>
          <p:cNvSpPr txBox="1"/>
          <p:nvPr/>
        </p:nvSpPr>
        <p:spPr>
          <a:xfrm>
            <a:off x="9426575" y="3200400"/>
            <a:ext cx="240538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能耗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制冰 1.94 kWh/天（0.20 kWh/kg 实际口径）+ 风扇 0.17 kWh/晚 ＝ 系统日均 2.10 kWh；光伏侧需求 2.34 kWh/天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7" name="r-item3"/>
          <p:cNvSpPr txBox="1"/>
          <p:nvPr/>
        </p:nvSpPr>
        <p:spPr>
          <a:xfrm>
            <a:off x="9426575" y="4216400"/>
            <a:ext cx="240538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光伏校核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理论下限 624W（468W 平均 ÷ 出力系数 0.75），选 2×645W＝1,20W，日发 4.69 kWh，发电裕量约 100% 应对弱光阴天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8" name="r-item4"/>
          <p:cNvSpPr txBox="1"/>
          <p:nvPr/>
        </p:nvSpPr>
        <p:spPr>
          <a:xfrm>
            <a:off x="9426575" y="5384800"/>
            <a:ext cx="240538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b="1" noProof="1">
                <a:solidFill>
                  <a:srgbClr val="2E7FC2"/>
                </a:solidFill>
                <a:latin typeface="微软雅黑" charset="-122"/>
                <a:ea typeface="微软雅黑" charset="-122"/>
                <a:cs typeface="微软雅黑" charset="-122"/>
              </a:rPr>
              <a:t>储能校核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  <a:cs typeface="微软雅黑" charset="-122"/>
              </a:rPr>
              <a:t>夜间需求仅 0.19 kWh，配 1.28 kWh（25.6V/50Ah），余量约 6.9 倍；MPPT 按 52A 核算选 60A</a:t>
            </a:r>
            <a:endParaRPr lang="en-US" sz="1600" noProof="1"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-bar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</p:spPr>
        <p:txBody>
          <a:bodyPr/>
          <a:p/>
        </p:txBody>
      </p:sp>
      <p:sp>
        <p:nvSpPr>
          <p:cNvPr id="3" name="hdr-title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方案设计单：标准 BOM 与落地要点</a:t>
            </a:r>
            <a:endParaRPr lang="en-US" sz="2500" noProof="1"/>
          </a:p>
        </p:txBody>
      </p:sp>
      <p:sp>
        <p:nvSpPr>
          <p:cNvPr id="4" name="hdr-sub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单套覆盖 1 人 1 台 · 每晚用冰约 9.7 kg · 系统日均能耗约 2.1 kWh · 8 项标准物料 + 4 项选配</a:t>
            </a:r>
            <a:endParaRPr lang="en-US" sz="1250" noProof="1"/>
          </a:p>
        </p:txBody>
      </p:sp>
      <p:sp>
        <p:nvSpPr>
          <p:cNvPr id="5" name="hdr-page"/>
          <p:cNvSpPr txBox="1"/>
          <p:nvPr/>
        </p:nvSpPr>
        <p:spPr>
          <a:xfrm>
            <a:off x="11176000" y="6350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03 / 27</a:t>
            </a:r>
            <a:endParaRPr lang="en-US" sz="1250" noProof="1"/>
          </a:p>
        </p:txBody>
      </p:sp>
      <p:graphicFrame>
        <p:nvGraphicFramePr>
          <p:cNvPr id="6" name="tbl-bom"/>
          <p:cNvGraphicFramePr>
            <a:graphicFrameLocks noGrp="1"/>
          </p:cNvGraphicFramePr>
          <p:nvPr/>
        </p:nvGraphicFramePr>
        <p:xfrm>
          <a:off x="508000" y="1676400"/>
          <a:ext cx="7569200" cy="3657601"/>
        </p:xfrm>
        <a:graphic>
          <a:graphicData uri="http://schemas.openxmlformats.org/drawingml/2006/table">
            <a:tbl>
              <a:tblPr/>
              <a:tblGrid>
                <a:gridCol w="832612"/>
                <a:gridCol w="983996"/>
                <a:gridCol w="3481832"/>
                <a:gridCol w="529844"/>
                <a:gridCol w="832612"/>
                <a:gridCol w="908304"/>
              </a:tblGrid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产品包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物料编号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产品描述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数量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单价(元)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小计(元)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光伏包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6B001452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天合 640W 单晶组件（2382×1134mm）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250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制冰包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ZB048401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商用制冰机 48kg/24h · 风冷 400W · 220V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1,800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1,800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储能包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ES025601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磷酸铁锂 25.6V/50Ah · 1-2kWh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1,200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1,200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电控包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NB001501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纯正弦波逆变器 24V/1,500W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电控包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MP006001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MPPT 控制器 12/24V 自适应 · 60A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450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450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终端包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FS004201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美的 ACA10TFC 蒸发式冷风扇 42W · 375m³/h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369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369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辅材包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QB000201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双组件安装支架套件（压块、紧固件）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300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1869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辅材包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XL000201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电缆配电套件（4mm² 光伏电缆+断路器+配电箱）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350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350</a:t>
                      </a:r>
                      <a:endParaRPr lang="en-US" sz="1100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EEF4FA"/>
                    </a:solidFill>
                  </a:tcPr>
                </a:tc>
              </a:tr>
              <a:tr h="380390">
                <a:tc gridSpan="5"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合计</a:t>
                      </a:r>
                      <a:endParaRPr lang="en-US" sz="1100" b="1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D6E4F0"/>
                    </a:solidFill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1F2933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5,669</a:t>
                      </a:r>
                      <a:endParaRPr lang="en-US" sz="1100" b="1" noProof="1">
                        <a:solidFill>
                          <a:srgbClr val="1F2933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D6E4F0"/>
                    </a:solidFill>
                  </a:tcPr>
                </a:tc>
              </a:tr>
              <a:tr h="380390">
                <a:tc gridSpan="5"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渠道销售价（取整）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5,700</a:t>
                      </a:r>
                      <a:endParaRPr lang="en-US" sz="11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E1EA"/>
                      </a:solidFill>
                    </a:lnB>
                    <a:solidFill>
                      <a:srgbClr val="003A70"/>
                    </a:solidFill>
                  </a:tcPr>
                </a:tc>
              </a:tr>
            </a:tbl>
          </a:graphicData>
        </a:graphic>
      </p:graphicFrame>
      <p:sp>
        <p:nvSpPr>
          <p:cNvPr id="7" name="r-rule"/>
          <p:cNvSpPr/>
          <p:nvPr/>
        </p:nvSpPr>
        <p:spPr>
          <a:xfrm>
            <a:off x="8432800" y="1676400"/>
            <a:ext cx="25400" cy="4470400"/>
          </a:xfrm>
          <a:custGeom>
            <a:avLst/>
            <a:gdLst/>
            <a:ahLst/>
            <a:cxnLst/>
            <a:rect l="l" t="t" r="r" b="b"/>
            <a:pathLst>
              <a:path w="2" h="352">
                <a:moveTo>
                  <a:pt x="1" y="0"/>
                </a:moveTo>
                <a:lnTo>
                  <a:pt x="1" y="352"/>
                </a:lnTo>
              </a:path>
            </a:pathLst>
          </a:cu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8" name="r-title"/>
          <p:cNvSpPr txBox="1"/>
          <p:nvPr/>
        </p:nvSpPr>
        <p:spPr>
          <a:xfrm>
            <a:off x="8737600" y="1676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选配产品</a:t>
            </a:r>
            <a:endParaRPr lang="en-US" sz="1600" noProof="1"/>
          </a:p>
        </p:txBody>
      </p:sp>
      <p:sp>
        <p:nvSpPr>
          <p:cNvPr id="9" name="r-opts"/>
          <p:cNvSpPr txBox="1"/>
          <p:nvPr/>
        </p:nvSpPr>
        <p:spPr>
          <a:xfrm>
            <a:off x="8737600" y="1981200"/>
            <a:ext cx="2946400" cy="162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备用冰晶盒/冰盒（4 只轮换）　¥60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外接 10L 补水箱（含浮球阀）　¥90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市电互补充电器 24V/10A　¥260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4G 远程监控模块　¥180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保温储冷水罐 1.5 吨</a:t>
            </a: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　约 ¥1,300</a:t>
            </a:r>
            <a:endParaRPr lang="en-US" sz="1050" noProof="1"/>
          </a:p>
          <a:p>
            <a:pPr>
              <a:lnSpc>
                <a:spcPct val="155000"/>
              </a:lnSpc>
            </a:pPr>
            <a:r>
              <a:rPr lang="en-US" sz="10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按需加装，不改标准包结构；水罐为 70㎡ 全屋场景扩展件</a:t>
            </a:r>
            <a:endParaRPr lang="en-US" sz="1050" noProof="1"/>
          </a:p>
        </p:txBody>
      </p:sp>
      <p:sp>
        <p:nvSpPr>
          <p:cNvPr id="10" name="r-title2"/>
          <p:cNvSpPr txBox="1"/>
          <p:nvPr/>
        </p:nvSpPr>
        <p:spPr>
          <a:xfrm>
            <a:off x="8737600" y="3708400"/>
            <a:ext cx="2946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落地要点</a:t>
            </a:r>
            <a:endParaRPr lang="en-US" sz="1600" noProof="1"/>
          </a:p>
        </p:txBody>
      </p:sp>
      <p:sp>
        <p:nvSpPr>
          <p:cNvPr id="11" name="r-points"/>
          <p:cNvSpPr txBox="1"/>
          <p:nvPr/>
        </p:nvSpPr>
        <p:spPr>
          <a:xfrm>
            <a:off x="8737600" y="4038600"/>
            <a:ext cx="2946400" cy="218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b="1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补水：</a:t>
            </a: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机带水箱 4.7L＜夜间需求 6.3L，标配外接 10L 水箱或中途补水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b="1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70㎡ 扩展：</a:t>
            </a: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1.5 吨水罐 + 1.2㎡ 盘管（约 ¥100~200）+ 微型水泵 2.0~2.5m³/h（约 ¥500~1,500），核心件约 ¥1,800~3,100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b="1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供应链：</a:t>
            </a: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对接二三线厂家定制，不用二手设备；开模前明确海外销量预期</a:t>
            </a:r>
            <a:endParaRPr lang="en-US" sz="1050" noProof="1"/>
          </a:p>
          <a:p>
            <a:pPr>
              <a:lnSpc>
                <a:spcPct val="150000"/>
              </a:lnSpc>
            </a:pPr>
            <a:r>
              <a:rPr lang="en-US" sz="1050" b="1" noProof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售后：</a:t>
            </a:r>
            <a:r>
              <a:rPr lang="en-US" sz="1050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由当地空调售后团队承接安装维修，否则产品无法落地</a:t>
            </a:r>
            <a:endParaRPr lang="en-US" sz="1050" noProof="1"/>
          </a:p>
        </p:txBody>
      </p:sp>
      <p:sp>
        <p:nvSpPr>
          <p:cNvPr id="12" name="cand-title"/>
          <p:cNvSpPr txBox="1"/>
          <p:nvPr/>
        </p:nvSpPr>
        <p:spPr>
          <a:xfrm>
            <a:off x="508000" y="5461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制冰环节候选产品（</a:t>
            </a:r>
            <a:r>
              <a:rPr lang="zh-CN" altLang="en-US" sz="11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参考标品</a:t>
            </a:r>
            <a:r>
              <a:rPr lang="en-US" sz="115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）</a:t>
            </a:r>
            <a:endParaRPr lang="en-US" sz="1600" noProof="1"/>
          </a:p>
        </p:txBody>
      </p:sp>
      <p:pic>
        <p:nvPicPr>
          <p:cNvPr id="13" name="img-hicon"/>
          <p:cNvPicPr/>
          <p:nvPr/>
        </p:nvPicPr>
        <p:blipFill>
          <a:blip r:embed="rId1"/>
          <a:srcRect t="373" b="373"/>
          <a:stretch>
            <a:fillRect/>
          </a:stretch>
        </p:blipFill>
        <p:spPr>
          <a:xfrm>
            <a:off x="508000" y="5740400"/>
            <a:ext cx="635000" cy="6096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14" name="img-hicon-border"/>
          <p:cNvSpPr/>
          <p:nvPr/>
        </p:nvSpPr>
        <p:spPr>
          <a:xfrm>
            <a:off x="508000" y="5740400"/>
            <a:ext cx="635000" cy="6096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15" name="t-hicon"/>
          <p:cNvSpPr txBox="1"/>
          <p:nvPr/>
        </p:nvSpPr>
        <p:spPr>
          <a:xfrm>
            <a:off x="1270000" y="5689600"/>
            <a:ext cx="340106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惠康 HZB-25AFS 家用制冰机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150W · 30kg/24h · 方形冰 · 储冰 1.4kg；功率仅为商用机 38%，但白天 5h 出冰约 6kg＜9.7kg，需延长运行或双机并联</a:t>
            </a:r>
            <a:endParaRPr lang="en-US" sz="1600" noProof="1"/>
          </a:p>
        </p:txBody>
      </p:sp>
      <p:pic>
        <p:nvPicPr>
          <p:cNvPr id="16" name="img-aux"/>
          <p:cNvPicPr/>
          <p:nvPr/>
        </p:nvPicPr>
        <p:blipFill>
          <a:blip r:embed="rId2"/>
          <a:srcRect t="4000" b="4000"/>
          <a:stretch>
            <a:fillRect/>
          </a:stretch>
        </p:blipFill>
        <p:spPr>
          <a:xfrm>
            <a:off x="4673600" y="5740400"/>
            <a:ext cx="635000" cy="609600"/>
          </a:xfrm>
          <a:prstGeom prst="roundRect">
            <a:avLst>
              <a:gd name="adj" fmla="val 8000"/>
            </a:avLst>
          </a:prstGeom>
          <a:ln>
            <a:noFill/>
          </a:ln>
        </p:spPr>
      </p:pic>
      <p:sp>
        <p:nvSpPr>
          <p:cNvPr id="17" name="img-aux-border"/>
          <p:cNvSpPr/>
          <p:nvPr/>
        </p:nvSpPr>
        <p:spPr>
          <a:xfrm>
            <a:off x="4673600" y="5740400"/>
            <a:ext cx="635000" cy="60960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18" name="t-aux"/>
          <p:cNvSpPr txBox="1"/>
          <p:nvPr/>
        </p:nvSpPr>
        <p:spPr>
          <a:xfrm>
            <a:off x="5435600" y="5689600"/>
            <a:ext cx="27178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b="1" noProof="1">
                <a:solidFill>
                  <a:srgbClr val="1F2933"/>
                </a:solidFill>
                <a:latin typeface="微软雅黑" charset="-122"/>
                <a:ea typeface="微软雅黑" charset="-122"/>
              </a:rPr>
              <a:t>奥克斯 29L 小冰柜</a:t>
            </a:r>
            <a:endParaRPr lang="en-US" sz="1600" noProof="1"/>
          </a:p>
          <a:p>
            <a:pPr>
              <a:lnSpc>
                <a:spcPct val="135000"/>
              </a:lnSpc>
            </a:pPr>
            <a:r>
              <a:rPr lang="en-US" sz="9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BD/BC-29A128D · 0.43 kWh/24h · 冷冻/冷藏可调；冰柜 + 冰格冻冰路线，冻冰产量待实验台标定</a:t>
            </a:r>
            <a:endParaRPr lang="en-US" sz="1600" noProof="1"/>
          </a:p>
        </p:txBody>
      </p:sp>
      <p:sp>
        <p:nvSpPr>
          <p:cNvPr id="19" name="f-rule"/>
          <p:cNvSpPr/>
          <p:nvPr/>
        </p:nvSpPr>
        <p:spPr>
          <a:xfrm>
            <a:off x="609600" y="6451600"/>
            <a:ext cx="11074400" cy="25400"/>
          </a:xfrm>
          <a:custGeom>
            <a:avLst/>
            <a:gdLst/>
            <a:ahLst/>
            <a:cxnLst/>
            <a:rect l="l" t="t" r="r" b="b"/>
            <a:pathLst>
              <a:path w="872" h="2">
                <a:moveTo>
                  <a:pt x="0" y="1"/>
                </a:moveTo>
                <a:lnTo>
                  <a:pt x="872" y="1"/>
                </a:lnTo>
              </a:path>
            </a:pathLst>
          </a:custGeom>
          <a:noFill/>
          <a:ln w="12700">
            <a:solidFill>
              <a:srgbClr val="D9E1EA"/>
            </a:solidFill>
          </a:ln>
        </p:spPr>
        <p:txBody>
          <a:bodyPr/>
          <a:p/>
        </p:txBody>
      </p:sp>
      <p:sp>
        <p:nvSpPr>
          <p:cNvPr id="20" name="f-src"/>
          <p:cNvSpPr txBox="1"/>
          <p:nvPr/>
        </p:nvSpPr>
        <p:spPr>
          <a:xfrm>
            <a:off x="609600" y="6527800"/>
            <a:ext cx="1016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价格来源：组件为渠道价格库（≤50pcs 档）；其余为 2026 年公开市场同级产品区间中值（阿里、苏宁等渠道）；水罐/盘管/水泵为曾义 70㎡ 场景估算口径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9715" y="125095"/>
            <a:ext cx="9990455" cy="6608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clrChange>
              <a:clrFrom>
                <a:srgbClr val="FCFCFC">
                  <a:alpha val="100000"/>
                </a:srgbClr>
              </a:clrFrom>
              <a:clrTo>
                <a:srgbClr val="FCFC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2310" y="108585"/>
            <a:ext cx="10123170" cy="67494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75" y="156210"/>
            <a:ext cx="9949815" cy="66338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冰蓄冷选型倒排测算：1 台冰桶覆盖 30㎡ 整晚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铭迪口径倒排至金抡户用机型 · 冰桶数量 = S×H×W÷1000÷单桶储冷量 · 对标锁定「加装电池」而非分体空调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07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1560000"/>
            <a:ext cx="11064240" cy="118000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2E7F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0080" y="1660000"/>
            <a:ext cx="1058424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测算公式：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冰桶数量 = 供冷面积(S) × 供冷时间(H) × 单位冷负荷(W) ÷ 1000 ÷ 单桶储冷量(kWh)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35000"/>
              </a:lnSpc>
            </a:pPr>
            <a:r>
              <a:rPr sz="11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设定工况：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30㎡ 双屋 · 整晚供冷 8h · 120 W/㎡ · 越南边际电价 3,500 盾/kWh（≈0.90 元）· 余电机会成本 844.8 盾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MD30PV 冰桶数量 = </a:t>
            </a:r>
            <a:r>
              <a:rPr sz="115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30 × 8 × 120 ÷ 1000 ÷ 28 = 1.03 ≈ 1 台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（28.8 kWh/晚 满载运行）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35000"/>
              </a:lnSpc>
            </a:pP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传统空调数量 = </a:t>
            </a:r>
            <a:r>
              <a:rPr sz="11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30 × 120 ÷ 1000 ÷ 3.5 = 1.03 ≈ 1 台</a:t>
            </a:r>
            <a:r>
              <a:rPr sz="115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（两间卧室实装 2 × 1.5 匹）</a:t>
            </a:r>
            <a:endParaRPr sz="115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980000"/>
          <a:ext cx="11064240" cy="13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/>
                <a:gridCol w="700000"/>
                <a:gridCol w="1500000"/>
                <a:gridCol w="1200000"/>
                <a:gridCol w="1100000"/>
                <a:gridCol w="1100000"/>
                <a:gridCol w="1300000"/>
                <a:gridCol w="1100000"/>
                <a:gridCol w="864240"/>
              </a:tblGrid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产品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数量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单价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主机金额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光伏(外采)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空调末端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管网/配储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合计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电费/天</a:t>
                      </a:r>
                      <a:endParaRPr sz="10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003A70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冰蓄冷 MD30PV</a:t>
                      </a:r>
                      <a:endParaRPr sz="100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+ 光伏直驱</a:t>
                      </a:r>
                      <a:endParaRPr sz="100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12,620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元/套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12,620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2,000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1,000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2,000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+1,200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≈19,000</a:t>
                      </a:r>
                      <a:endParaRPr sz="10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≈3.9 元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(余电口径)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2F7FB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传统分体空调</a:t>
                      </a:r>
                      <a:endParaRPr sz="10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l"/>
                      <a:r>
                        <a:rPr sz="10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2×1.5 匹</a:t>
                      </a:r>
                      <a:endParaRPr sz="10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2,500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元/台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5,000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/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含室内机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600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(安装)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≈5,600</a:t>
                      </a:r>
                      <a:endParaRPr sz="10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8.1 元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1000" b="0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(9kWh×0.9)</a:t>
                      </a:r>
                      <a:endParaRPr sz="1000" b="0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960000" y="4340000"/>
          <a:ext cx="1280000" cy="12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700000" y="4830000"/>
            <a:ext cx="1800000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3.4:1</a:t>
            </a:r>
            <a:endParaRPr sz="1600" b="1">
              <a:solidFill>
                <a:srgbClr val="C0000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0000" y="5680000"/>
            <a:ext cx="3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初始投资比</a:t>
            </a:r>
            <a:endParaRPr sz="10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户用非 1:1——对标应锁定「加装电池」</a:t>
            </a:r>
            <a:endParaRPr sz="8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532000" y="4340000"/>
          <a:ext cx="1280000" cy="12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272000" y="4830000"/>
            <a:ext cx="1800000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52%</a:t>
            </a:r>
            <a:endParaRPr sz="1600" b="1">
              <a:solidFill>
                <a:srgbClr val="2E7FC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72000" y="5680000"/>
            <a:ext cx="3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运行费节省</a:t>
            </a:r>
            <a:endParaRPr sz="10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8.1 − 3.9 = 4.2 元/天 ≈ 49 万盾/月</a:t>
            </a:r>
            <a:endParaRPr sz="8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9104000" y="4340000"/>
          <a:ext cx="1280000" cy="12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844000" y="4830000"/>
            <a:ext cx="1800000" cy="3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4.3 年</a:t>
            </a:r>
            <a:endParaRPr sz="16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44000" y="5680000"/>
            <a:ext cx="3400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回收期（仅主机·余电免费）</a:t>
            </a:r>
            <a:endParaRPr sz="10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12,620÷(8.1×365)；全套约 12 年 vs 寿命 20 年+</a:t>
            </a:r>
            <a:endParaRPr sz="8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6020000"/>
            <a:ext cx="1106424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060000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MD30PV（≈4,880 万盾）撞 4,000 万盾约束线，户用主推 MD20PV（≈3,336 万盾）@15㎡；市电制冰比直开空调更贵，光伏直驱是经济性唯一前提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数据来源：冰蓄冷报价 to July（广州金抡，2026-09-11 工厂出货价，不含税/运费/光伏板/泵/乙二醇）· 铭迪冰蓄冷项目测算口径 · 1 元 ≈ 3,870 盾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竞品对齐：电池配储 vs 冰蓄冷——电池管电，冰蓄冷管冷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对标自家三居配储产品线（富雅居/富安居/富康居）· 互补而非互替：冰蓄冷吃掉夜间空调负载，家电仅需小电池兜底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08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60000"/>
          <a:ext cx="11064240" cy="40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0000"/>
                <a:gridCol w="4682120"/>
                <a:gridCol w="4682120"/>
              </a:tblGrid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维度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电池配储（三居配储路线）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冰蓄冷 + 小电池（本方案）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003A70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储能介质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磷酸铁锂 5~40 kWh（存"电"）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冰/水 19~28 kWh（存"冷"）+ 1.28 kWh 小电池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覆盖负载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全屋家电 + 充电桩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空调冷负荷为主；家电由小电池/市电兜底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价格锚点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富雅居厂商指导价 16.88~39.88 万元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标准包 ¥5,669；金抡 MD20PV ¥8,620（光伏外采）</a:t>
                      </a:r>
                      <a:endParaRPr sz="10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寿命 / 质保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电池 6,000 次循环 ≈ 8~10 年，质保 5 年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冰桶 </a:t>
                      </a:r>
                      <a:r>
                        <a:rPr lang="en-US" sz="10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1</a:t>
                      </a:r>
                      <a:r>
                        <a:rPr sz="10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0 年+；制冰机质保 12 个月</a:t>
                      </a:r>
                      <a:endParaRPr sz="10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边际成本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每 kWh 容量都是成本，扩容即加钱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水介质 ≈ 零成本，扩容就是加水罐</a:t>
                      </a:r>
                      <a:endParaRPr sz="10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度电 / 购电成本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电池容量成本约 800~1,500 元/kWh；夜间放电购电≈0，但 5 年后更换电池再投入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大型场景度电成本约 300 元/kWh；光伏直驱购电≈0（纯空调对照：市电 8.1 元/天 ≈ 2,960 元/年）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停电应急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✅ 独立支撑全屋关键负载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⚠ 仅冷量 + 保底水量，需小电池带水泵/风扇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2F7FB"/>
                    </a:solidFill>
                  </a:tcPr>
                </a:tc>
              </a:tr>
              <a:tr h="46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供应链 / 交付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非原装非标流程，采购周期 20 天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二三线厂家定制；售后由当地空调团队承接</a:t>
                      </a:r>
                      <a:endParaRPr sz="105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7000" marB="27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40000"/>
            <a:ext cx="11064240" cy="480000"/>
          </a:xfrm>
          <a:prstGeom prst="roundRect">
            <a:avLst/>
          </a:prstGeom>
          <a:solidFill>
            <a:srgbClr val="E8F3EC"/>
          </a:solidFill>
          <a:ln w="9525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710000"/>
            <a:ext cx="1069848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7A46"/>
                </a:solidFill>
                <a:latin typeface="微软雅黑" charset="-122"/>
                <a:ea typeface="微软雅黑" charset="-122"/>
              </a:rPr>
              <a:t>推荐组合：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冰蓄冷（标准包/MD20PV）+ 1.28 kWh 磷酸铁锂 + 光伏 1~2.5 kW —— 冰蓄冷吃掉占家庭用电大头的夜间空调负载（户 B 缺口 450~600 kWh/月），电池从 10 kWh 缩到 1~2 kWh，整套成本比纯电池路线低一个量级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6220000"/>
            <a:ext cx="1106424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255000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越南叙事不是二选一——「冰蓄冷 + 小电池」对「大电池」：电池质保 5 年是软肋，冰桶 20 年+ 是长板，对比口径直接写进销售话术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660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6705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数据来源：三居配储解决方案（内部培训版，2024）· 冰蓄冷报价 to July（广州金抡，2026-09-11）· 冰蓄冷项目讨论会议纪要（2026-10-10）· 本报告标准 BOM（0808 口径）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整体方案 BOM 拆解：核心单元外采 + 五类模块自行组装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供货边界已确认（2026-10-10 会议）· 供应商仅供核心单元 · 空调末端 / 应急电源 / 光伏配额 / 现场安装自行整合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09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60000"/>
          <a:ext cx="11064240" cy="349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/>
                <a:gridCol w="4200000"/>
                <a:gridCol w="2300000"/>
                <a:gridCol w="2664240"/>
              </a:tblGrid>
              <a:tr h="340000"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BOM 模块</a:t>
                      </a:r>
                      <a:endParaRPr sz="11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内容</a:t>
                      </a:r>
                      <a:endParaRPr sz="11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供货归属</a:t>
                      </a:r>
                      <a:endParaRPr sz="11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参考成本</a:t>
                      </a:r>
                      <a:endParaRPr sz="11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003A70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① 冰蓄冷核心单元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储冰罐 440L + 压缩机 + 换热盘管 + 制冰循环（储冷 19 kWh，占地约 5㎡）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供应商提供（金抡 MD20PV）</a:t>
                      </a:r>
                      <a:endParaRPr sz="100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¥8,620（约 8,000 元口径）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② 室内空调末端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水路风机盘管；越南存量氟利昂机不可复用，仅水路空调可对接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自行筹备（另寻供应商）</a:t>
                      </a:r>
                      <a:endParaRPr sz="10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¥1,000~1,500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③ 供电配套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500W 应急电源 / 1.2~2 kWh 小电池（水泵 5W + 风机盘管）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自行筹备</a:t>
                      </a:r>
                      <a:endParaRPr sz="10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¥1,200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④ 光伏对接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1~2 kW 板组直驱制冰，设计阶段预留板组功率配额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自有（天合组件渠道）</a:t>
                      </a:r>
                      <a:endParaRPr sz="10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¥1,000~2,000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⑤ 管网辅材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DN25 不冻液管路 + 防腐乙二醇 + 循环水泵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外采（不含在报价内）</a:t>
                      </a:r>
                      <a:endParaRPr sz="10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¥1,500~2,000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2F7FB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⑥ 现场安装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上门安装调试、售后维修</a:t>
                      </a:r>
                      <a:endParaRPr sz="10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当地空调售后团队承接</a:t>
                      </a:r>
                      <a:endParaRPr sz="10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另计</a:t>
                      </a:r>
                      <a:endParaRPr sz="10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硬件合计（①~⑤）</a:t>
                      </a:r>
                      <a:endParaRPr sz="11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10~50㎡ 小型场景整体方案（自行组装）</a:t>
                      </a:r>
                      <a:endParaRPr sz="11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110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≈ ¥13,300~15,300</a:t>
                      </a:r>
                      <a:endParaRPr sz="110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90000" marR="90000" marT="22000" marB="22000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620000"/>
            <a:ext cx="11064240" cy="460000"/>
          </a:xfrm>
          <a:prstGeom prst="roundRect">
            <a:avLst/>
          </a:prstGeom>
          <a:solidFill>
            <a:srgbClr val="E8F3EC"/>
          </a:solidFill>
          <a:ln w="9525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80000"/>
            <a:ext cx="1069848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7A46"/>
                </a:solidFill>
                <a:latin typeface="微软雅黑" charset="-122"/>
                <a:ea typeface="微软雅黑" charset="-122"/>
              </a:rPr>
              <a:t>度电成本与购电：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大型场景（100~150㎡）度电成本约 300 元/kWh（常规款 1.7m×3.6m）；10~50㎡ 小型款 440L 约 8,000 元、度电成本待供应商补全。运行购电：光伏直驱 ≈ 0（机会成本 0.22 元/kWh），对照纯空调市电 8.1 元/天 ≈ 2,960 元/年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6220000"/>
            <a:ext cx="1106424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255000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10~50㎡ 小型场景优先级最高——拿到供应商完整参数与连接方式后锁定 BOM，对接空调供应商 + 自有光伏，完成整体产品包整合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660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6705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数据来源：冰蓄冷项目相关事宜讨论会议纪要（2026-10-10，梁云刚）· 冰蓄冷报价 to July（广州金抡，2026-09-11 工厂出货价，不含税/运费/光伏板/泵/乙二醇）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可采购模块分解：对照概念图 ①~⑧ 逐项锁定货源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供应商仅含 ①②（核心单元 ¥8,620）· 其余通用件全部暖通/五金现货或自有渠道 · 需定制的只有水路末端与光伏配额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10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080" y="1560000"/>
            <a:ext cx="4300000" cy="2956666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080" y="1605000"/>
            <a:ext cx="4210000" cy="28066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0080" y="4441666"/>
            <a:ext cx="4120000" cy="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对照第 6 页概念图编号 ①~⑧</a:t>
            </a: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（概念图·非实物，性能与尺寸待样机验证）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4626666"/>
            <a:ext cx="4300000" cy="640000"/>
          </a:xfrm>
          <a:prstGeom prst="roundRect">
            <a:avLst/>
          </a:prstGeom>
          <a:solidFill>
            <a:srgbClr val="F2F7FB"/>
          </a:solidFill>
          <a:ln w="9525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0080" y="4706666"/>
            <a:ext cx="402000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概念图规格：</a:t>
            </a:r>
            <a:r>
              <a:rPr sz="10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供水温度 2~8℃ · 5V/24V 直流 · 供回水循环</a:t>
            </a:r>
            <a:endParaRPr sz="10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双模式：</a:t>
            </a:r>
            <a:r>
              <a:rPr sz="10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白天蓄冷（制冷至 2~8℃）· 夜间供冷（泵送盘管送风）</a:t>
            </a:r>
            <a:endParaRPr sz="10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40080" y="1560000"/>
          <a:ext cx="6564240" cy="377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0000"/>
                <a:gridCol w="1500000"/>
                <a:gridCol w="2554240"/>
                <a:gridCol w="1150000"/>
                <a:gridCol w="800000"/>
              </a:tblGrid>
              <a:tr h="33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编号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模块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采购规格要点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供货归属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参考价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003A70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①②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冰蓄冷核心单元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（罐+直流制冷模块）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440L · 储冷 19kWh · 304 内胆 · 40mm 发泡保温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供应商（金抡）</a:t>
                      </a:r>
                      <a:endParaRPr sz="90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¥8,620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③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循环水泵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流量 2~2.5 m³/h · 水阻 45kPa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外采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¥500~1,000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④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风机盘管末端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铜管翅片 1.2㎡ · 调速风机 · 仅水路空调可对接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另寻供应商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¥1,000~1,500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⑤⑥⑨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电控与小件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温度传感器 · 冷凝水接水盘 · MPPT 60A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外采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¥550~900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⑦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光伏板组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天合 625W×2 · 1~2kW 配额 · 含支架电缆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自有渠道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¥1,000~2,000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⑧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夜间辅助电源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LiFePO4 500W / 1.2~2 kWh（水泵+风机）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自行筹备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¥1,200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⑩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不冻液管路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DN25 管路 + 防腐乙二醇（报价不含）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外采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¥500~800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2F7FB"/>
                    </a:solidFill>
                  </a:tcPr>
                </a:tc>
              </a:tr>
              <a:tr h="430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2E7FC2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1">
                        <a:solidFill>
                          <a:srgbClr val="2E7FC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现场安装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上门安装调试、售后维修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5500B"/>
                          </a:solidFill>
                          <a:latin typeface="微软雅黑" charset="-122"/>
                          <a:ea typeface="微软雅黑" charset="-122"/>
                        </a:rPr>
                        <a:t>当地空调售后</a:t>
                      </a:r>
                      <a:endParaRPr sz="900" b="1">
                        <a:solidFill>
                          <a:srgbClr val="C5500B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另计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54000" marR="54000" marT="15000" marB="1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" y="5780000"/>
            <a:ext cx="11064240" cy="420000"/>
          </a:xfrm>
          <a:prstGeom prst="roundRect">
            <a:avLst/>
          </a:prstGeom>
          <a:solidFill>
            <a:srgbClr val="E8F3EC"/>
          </a:solidFill>
          <a:ln w="9525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40000"/>
            <a:ext cx="10698480" cy="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7A46"/>
                </a:solidFill>
                <a:latin typeface="微软雅黑" charset="-122"/>
                <a:ea typeface="微软雅黑" charset="-122"/>
              </a:rPr>
              <a:t>采购汇总：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核心单元 ¥8,620（①②，到货即锁死约六成成本）+ 外采/自筹备 ③~⑩ ≈ ¥4,750~7,400 → 整机硬件 ≈ ¥13,400~16,000（与第 9 页五模块口径 ¥13,300~15,300 互洽，差异为小件拆分）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6260000"/>
            <a:ext cx="1106424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295000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③~⑩ 全是暖通/五金现货，真正要定制的是水路末端选型与光伏配额设计——这两项直接决定产品包整合节奏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" y="664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670528"/>
            <a:ext cx="1106424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数据来源：本报告第 6 页概念图（编号 ①~⑧）· 冰蓄冷报价 to July（金抡，2026-09-11）· 冰蓄冷项目讨论会议纪要（2026-10-10）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核心成本拆解：散件自装硬成本仅为整机 1/3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同步比对「改造户用水空调」散件路线 · 核心单元 = 压缩机+换热水罐+外壳+电控 · 末端/水泵/微逆/光伏为两条路线公共件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11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0000"/>
          <a:ext cx="11064240" cy="4335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000"/>
                <a:gridCol w="4400000"/>
                <a:gridCol w="2600000"/>
                <a:gridCol w="2464240"/>
              </a:tblGrid>
              <a:tr h="32000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模块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规格要点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散件自装参考价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整机外采口径（金抡 MD20PV）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003A70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压缩机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1.5 匹品牌变频（美芝/凌达/松下）· R32/R410A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¥400~700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含于整机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换热水罐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304 不锈钢 400~440L · 40mm 发泡保温 · 内置换热盘管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¥800~1,500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含于整机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外壳 / 机架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钣金喷涂外壳 + 底座服务舱（制冷模块与水泵一体集成）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¥200~400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含于整机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电控小件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温度传感器 · 控制器 · 冷凝水接水盘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¥250~400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含于整机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核心单元小计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散件硬成本 vs 整机 ¥8,620 → 溢价 2.9~5.2×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≈ ¥1,650~3,000</a:t>
                      </a:r>
                      <a:endParaRPr sz="95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¥8,620</a:t>
                      </a:r>
                      <a:endParaRPr sz="95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风机盘管末端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铜管翅片 1.2㎡ · 调速风机 · 仅水路空调可对接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¥200~400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不含（另购）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水泵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循环泵 2~2.5 m³/h · 水阻 45kPa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¥300~800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不含（另购）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微逆 / 电控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600~800W 微逆（AC 路线）或 MPPT+离网逆变（直流路线）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¥450~800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不含（另购）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光伏板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天合 625W×2 · 1~2kW 配额 · 含支架电缆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¥500（自有渠道）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不含（自有）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2F7FB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管路辅材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33F4C"/>
                          </a:solidFill>
                          <a:latin typeface="微软雅黑" charset="-122"/>
                          <a:ea typeface="微软雅黑" charset="-122"/>
                        </a:rPr>
                        <a:t>DN25 不冻液管路 + 防腐乙二醇</a:t>
                      </a:r>
                      <a:endParaRPr sz="900" b="0">
                        <a:solidFill>
                          <a:srgbClr val="333F4C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1E7A46"/>
                          </a:solidFill>
                          <a:latin typeface="微软雅黑" charset="-122"/>
                          <a:ea typeface="微软雅黑" charset="-122"/>
                        </a:rPr>
                        <a:t>¥400~700</a:t>
                      </a:r>
                      <a:endParaRPr sz="950" b="1">
                        <a:solidFill>
                          <a:srgbClr val="1E7A46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5A6572"/>
                          </a:solidFill>
                          <a:latin typeface="微软雅黑" charset="-122"/>
                          <a:ea typeface="微软雅黑" charset="-122"/>
                        </a:rPr>
                        <a:t>不含（另购）</a:t>
                      </a:r>
                      <a:endParaRPr sz="950" b="1">
                        <a:solidFill>
                          <a:srgbClr val="5A657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FFFFFF"/>
                    </a:solidFill>
                  </a:tcPr>
                </a:tc>
              </a:tr>
              <a:tr h="36500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整系统合计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003A70"/>
                          </a:solidFill>
                          <a:latin typeface="微软雅黑" charset="-122"/>
                          <a:ea typeface="微软雅黑" charset="-122"/>
                        </a:rPr>
                        <a:t>公共件两条路线相同，切换路线不改系统架构</a:t>
                      </a:r>
                      <a:endParaRPr sz="950" b="1">
                        <a:solidFill>
                          <a:srgbClr val="003A7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≈ ¥3,500~6,200</a:t>
                      </a:r>
                      <a:endParaRPr sz="95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(+ 装配测试另计)</a:t>
                      </a:r>
                      <a:endParaRPr sz="95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C00000"/>
                          </a:solidFill>
                          <a:latin typeface="微软雅黑" charset="-122"/>
                          <a:ea typeface="微软雅黑" charset="-122"/>
                        </a:rPr>
                        <a:t>≈ ¥10,500~11,800</a:t>
                      </a:r>
                      <a:endParaRPr sz="950" b="1">
                        <a:solidFill>
                          <a:srgbClr val="C00000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72000" marR="72000" marT="12000" marB="12000" anchor="ctr"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940000"/>
            <a:ext cx="11064240" cy="34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975000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整机溢价买的是集成设计 + 12 个月质保 + 即插即用——MVP 期（5~10 户）外采整机抢时间；放量期切散件自装/二三线厂定制，开模前明确海外销量预期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数据来源：淘宝/1688 现货询价（2026-10，压缩机/保温水箱/风机盘管口径）· 冰蓄冷报价 to July（金抡，2026-09-11）· 本报告第 3 页 BOM · 散件价为估算口径，待批量询价核实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hdr-bar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</p:spPr>
        <p:txBody>
          <a:bodyPr/>
          <a:p/>
        </p:txBody>
      </p:sp>
      <p:sp>
        <p:nvSpPr>
          <p:cNvPr id="3" name="hdr-title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储冷设备越南市场调研：水罐只有渠道可用，制冰需要</a:t>
            </a:r>
            <a:r>
              <a:rPr lang="en-US" altLang="zh-CN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BOM</a:t>
            </a:r>
            <a:r>
              <a:rPr lang="zh-CN" altLang="en-US" sz="2500" b="1" noProof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拆解</a:t>
            </a:r>
            <a:endParaRPr lang="zh-CN" altLang="en-US" sz="2500" b="1" noProof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hdr-sub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zh-CN" altLang="en-US" sz="1250" noProof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核心判断：「盘管隔离 + 闭式回路 + 罐体保温」为唯一可行路径，成本增量不足一成（+9~13%），政策红利与竞争空白同时成立</a:t>
            </a:r>
            <a:endParaRPr lang="zh-CN" altLang="en-US" sz="1250" noProof="1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51" name="图片 50" descr="F:\zsy\天合富家\新logo蓝.png新logo蓝"/>
          <p:cNvPicPr>
            <a:picLocks noChangeAspect="1"/>
          </p:cNvPicPr>
          <p:nvPr userDrawn="1"/>
        </p:nvPicPr>
        <p:blipFill>
          <a:blip r:embed="rId1"/>
          <a:srcRect/>
          <a:stretch>
            <a:fillRect/>
          </a:stretch>
        </p:blipFill>
        <p:spPr>
          <a:xfrm>
            <a:off x="10355580" y="336550"/>
            <a:ext cx="1514475" cy="5003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12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40080" y="1600200"/>
            <a:ext cx="1106424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1700784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调研方法：6 维并行调研（卫生/供水/水力/市场/政策/竞争）· 120+ 次中越英三语独立搜索交叉验证 · 2026-09 一线户用样本实证 · 冲突裁定机制逐条下判</a:t>
            </a:r>
            <a:endParaRPr sz="11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5" name="Oval 54"/>
          <p:cNvSpPr/>
          <p:nvPr>
            <p:custDataLst>
              <p:tags r:id="rId2"/>
            </p:custDataLst>
          </p:nvPr>
        </p:nvSpPr>
        <p:spPr>
          <a:xfrm>
            <a:off x="640080" y="2276856"/>
            <a:ext cx="310896" cy="310896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>
            <p:custDataLst>
              <p:tags r:id="rId3"/>
            </p:custDataLst>
          </p:nvPr>
        </p:nvSpPr>
        <p:spPr>
          <a:xfrm>
            <a:off x="640080" y="229514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1</a:t>
            </a:r>
            <a:endParaRPr sz="13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7" name="TextBox 56"/>
          <p:cNvSpPr txBox="1"/>
          <p:nvPr>
            <p:custDataLst>
              <p:tags r:id="rId4"/>
            </p:custDataLst>
          </p:nvPr>
        </p:nvSpPr>
        <p:spPr>
          <a:xfrm>
            <a:off x="1097280" y="224028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直冷生活水路线不成立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罐内水 90%+ 用于洗浴洗衣冲厕且「烧开做饭」入口途径不可排除；浮球阀全混流 + 底部出水，充冷后 24h 约 20~30% 冷量被稀释——卫生与水力两条独立证据链同向否决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8" name="Oval 57"/>
          <p:cNvSpPr/>
          <p:nvPr>
            <p:custDataLst>
              <p:tags r:id="rId5"/>
            </p:custDataLst>
          </p:nvPr>
        </p:nvSpPr>
        <p:spPr>
          <a:xfrm>
            <a:off x="640080" y="2990088"/>
            <a:ext cx="310896" cy="310896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>
            <p:custDataLst>
              <p:tags r:id="rId6"/>
            </p:custDataLst>
          </p:nvPr>
        </p:nvSpPr>
        <p:spPr>
          <a:xfrm>
            <a:off x="640080" y="300837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2</a:t>
            </a:r>
            <a:endParaRPr sz="13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0" name="TextBox 59"/>
          <p:cNvSpPr txBox="1"/>
          <p:nvPr>
            <p:custDataLst>
              <p:tags r:id="rId7"/>
            </p:custDataLst>
          </p:nvPr>
        </p:nvSpPr>
        <p:spPr>
          <a:xfrm>
            <a:off x="1097280" y="2953512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唯一可行路径：盘管隔离 + 闭式回路 + 罐体保温（三必需项）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裸不锈钢罐暴晒下水温达 35~45℃，保温从可选升级为必需；1000L 罐喷 PU 改造约 190~250 万盾（490~650 元），供应链成熟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1" name="Oval 60"/>
          <p:cNvSpPr/>
          <p:nvPr>
            <p:custDataLst>
              <p:tags r:id="rId8"/>
            </p:custDataLst>
          </p:nvPr>
        </p:nvSpPr>
        <p:spPr>
          <a:xfrm>
            <a:off x="640080" y="3703320"/>
            <a:ext cx="310896" cy="310896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>
            <p:custDataLst>
              <p:tags r:id="rId9"/>
            </p:custDataLst>
          </p:nvPr>
        </p:nvSpPr>
        <p:spPr>
          <a:xfrm>
            <a:off x="640080" y="372160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3</a:t>
            </a:r>
            <a:endParaRPr sz="13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3" name="TextBox 62"/>
          <p:cNvSpPr txBox="1"/>
          <p:nvPr>
            <p:custDataLst>
              <p:tags r:id="rId10"/>
            </p:custDataLst>
          </p:nvPr>
        </p:nvSpPr>
        <p:spPr>
          <a:xfrm>
            <a:off x="1097280" y="3666744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首选市场：北部大城市 3~5 层自建排屋「增压型」用户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水罐是增压+应急双属性水路中枢，只「借冷量」不「占罐子」；两张门票：保底应急水量 ≥500L + 停水联动停机；SAM 约 200~450 万户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4" name="Oval 63"/>
          <p:cNvSpPr/>
          <p:nvPr>
            <p:custDataLst>
              <p:tags r:id="rId11"/>
            </p:custDataLst>
          </p:nvPr>
        </p:nvSpPr>
        <p:spPr>
          <a:xfrm>
            <a:off x="640080" y="4416552"/>
            <a:ext cx="310896" cy="310896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>
            <p:custDataLst>
              <p:tags r:id="rId12"/>
            </p:custDataLst>
          </p:nvPr>
        </p:nvSpPr>
        <p:spPr>
          <a:xfrm>
            <a:off x="640080" y="443484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4</a:t>
            </a:r>
            <a:endParaRPr sz="13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6" name="TextBox 65"/>
          <p:cNvSpPr txBox="1"/>
          <p:nvPr>
            <p:custDataLst>
              <p:tags r:id="rId13"/>
            </p:custDataLst>
          </p:nvPr>
        </p:nvSpPr>
        <p:spPr>
          <a:xfrm>
            <a:off x="1097280" y="4379976"/>
            <a:ext cx="10607040" cy="437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政策主动奖励：光伏自用价值 ≈ 卖电的 3.6 倍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余电上网仅 844.8 越盾/kWh vs 零售边际档含税 3,240~3,737；电价三年累涨 17%；</a:t>
            </a:r>
            <a:r>
              <a:rPr sz="1000" b="1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蓄冷式空调</a:t>
            </a: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在越南竞争空白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7" name="Oval 66"/>
          <p:cNvSpPr/>
          <p:nvPr>
            <p:custDataLst>
              <p:tags r:id="rId14"/>
            </p:custDataLst>
          </p:nvPr>
        </p:nvSpPr>
        <p:spPr>
          <a:xfrm>
            <a:off x="640080" y="5129784"/>
            <a:ext cx="310896" cy="310896"/>
          </a:xfrm>
          <a:prstGeom prst="ellipse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>
            <p:custDataLst>
              <p:tags r:id="rId15"/>
            </p:custDataLst>
          </p:nvPr>
        </p:nvSpPr>
        <p:spPr>
          <a:xfrm>
            <a:off x="640080" y="514807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5</a:t>
            </a:r>
            <a:endParaRPr sz="13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9" name="TextBox 68"/>
          <p:cNvSpPr txBox="1"/>
          <p:nvPr>
            <p:custDataLst>
              <p:tags r:id="rId16"/>
            </p:custDataLst>
          </p:nvPr>
        </p:nvSpPr>
        <p:spPr>
          <a:xfrm>
            <a:off x="1097280" y="5093208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首批客户：已装光伏但夜间仍在买电的存量户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一线样本：户 B 装光伏后仍月交 150~200 万盾（≈夜间 450~600kWh）；越南约 10.3 万套存量屋顶光伏中，「白天余电、夜间买高价电」家庭即目标客群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所以呢：直冷捷径已死、正道增量不足一成——水龄 3~10 天 · SAM 200~450 万户 · 热季月省 93~108 万盾/台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数据来源：越南家庭水罐蓄冷市场调研洞察与可行性分析报告（麦肯锡版，2026-09）· 汇率口径 1 元 ≈ 3,870 越南盾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84200"/>
            <a:ext cx="431800" cy="5080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736600"/>
            <a:ext cx="9144000" cy="43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越南调研一页览：盘管正道 × 3.6× 溢价 × 落地三步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21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冲突裁定收敛三档路线 · 首批客户藏在 10.3 万套存量光伏户 · 谁先完成 5~10 户实测闭环，谁拿到市场定价权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13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640080" y="1564769"/>
            <a:ext cx="2669094" cy="254473"/>
          </a:xfrm>
          <a:prstGeom prst="round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640080" y="1598449"/>
            <a:ext cx="266909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① 冲突裁定：收敛三档路线</a:t>
            </a:r>
            <a:endParaRPr sz="12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3"/>
            </p:custDataLst>
          </p:nvPr>
        </p:nvSpPr>
        <p:spPr>
          <a:xfrm>
            <a:off x="640080" y="1841696"/>
            <a:ext cx="2669094" cy="3016255"/>
          </a:xfrm>
          <a:prstGeom prst="roundRect">
            <a:avLst/>
          </a:prstGeom>
          <a:solidFill>
            <a:srgbClr val="F2F7FB"/>
          </a:solidFill>
          <a:ln w="9525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744639" y="1946554"/>
            <a:ext cx="2459502" cy="161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四组矛盾无一构成事实冲突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；C1 否决直冷（水力+卫生双证据链）→ 盘管隔离+闭式回路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C4 保温升为必需：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裸罐暴晒 35~45℃，制冷装机上调 20~40%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成本增量 +9~13%：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单户 21,500~39,000 → 23,500~44,000 元，仍低于电池路线价格带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A 原罐改造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（借冷量不动水，首期主力）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B 新罐退路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（不动罐加新罐，+3,000~8,000 元）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C 农村探针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（井水直充免盘管，12~18h 内取冷）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5"/>
            </p:custDataLst>
          </p:nvPr>
        </p:nvSpPr>
        <p:spPr>
          <a:xfrm>
            <a:off x="3446051" y="1564769"/>
            <a:ext cx="2669094" cy="254473"/>
          </a:xfrm>
          <a:prstGeom prst="round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3446051" y="1598449"/>
            <a:ext cx="266909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② 政策与画像：自用溢价 3.6×</a:t>
            </a:r>
            <a:endParaRPr sz="12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3446051" y="1841696"/>
            <a:ext cx="2669094" cy="3016255"/>
          </a:xfrm>
          <a:prstGeom prst="roundRect">
            <a:avLst/>
          </a:prstGeom>
          <a:solidFill>
            <a:srgbClr val="F2F7FB"/>
          </a:solidFill>
          <a:ln w="9525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3550609" y="1946554"/>
            <a:ext cx="2459502" cy="161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余电上网 844.8 盾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 vs 零售边际档 3,240~3,737 盾 → 自用价值 ≈ 卖电 3.6 倍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电价三年累涨 17%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，每 3 个月可调价；单台空调月省 93~108 万盾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增量成本约束 3,000~4,000 万盾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，才对竞品 3~5 年回收期有竞争力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首批客户 = 已装光伏但夜间仍买高价电的存量户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（10.3 万套屋顶光伏中筛选）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户 B 原型：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装光伏后仍月交 150~200 万盾 ≈ 夜间 450~600 kWh/月，与 1.5~2 吨罐蓄冷量级吻合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真正竞品 = 加装电池：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水介质边际成本为零、寿命 20 年+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9"/>
            </p:custDataLst>
          </p:nvPr>
        </p:nvSpPr>
        <p:spPr>
          <a:xfrm>
            <a:off x="6252021" y="1564769"/>
            <a:ext cx="2669094" cy="254473"/>
          </a:xfrm>
          <a:prstGeom prst="round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6252021" y="1598449"/>
            <a:ext cx="2669094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③ 落地三步：顺序不可颠倒</a:t>
            </a:r>
            <a:endParaRPr sz="12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1"/>
            </p:custDataLst>
          </p:nvPr>
        </p:nvSpPr>
        <p:spPr>
          <a:xfrm>
            <a:off x="6252021" y="1841696"/>
            <a:ext cx="2669094" cy="3016255"/>
          </a:xfrm>
          <a:prstGeom prst="roundRect">
            <a:avLst/>
          </a:prstGeom>
          <a:solidFill>
            <a:srgbClr val="F2F7FB"/>
          </a:solidFill>
          <a:ln w="9525">
            <a:solidFill>
              <a:srgbClr val="D5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6356580" y="1946554"/>
            <a:ext cx="2459502" cy="161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第一步 · MVP 试点（0~6 月）：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河内周边 5~10 户Ⅰ档家庭路线 A 改造，实测罐体散热/充冷效率/用水置换三条曲线——不实测不扩产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第二步 · 渠道双轨（6~18 月）：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旧罐改造走水电工渠道上门施工；新罐预制走大新/Sơn Hà 约 3 万零售网点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第三步 · EMC 零首付（12 月起）：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从节省电费中分成回收，与电价季度可调机制天然咬合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常州冰块实验 = MVP 前段验证已完成：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约 10kg 冰 ≈ 300~560W 等效制冷、体感改善 1.3~2.3℃、附带除湿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950" b="1">
                <a:solidFill>
                  <a:srgbClr val="2E7FC2"/>
                </a:solidFill>
                <a:latin typeface="微软雅黑" charset="-122"/>
                <a:ea typeface="微软雅黑" charset="-122"/>
              </a:rPr>
              <a:t>· </a:t>
            </a:r>
            <a:r>
              <a:rPr sz="9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下一步：</a:t>
            </a:r>
            <a:r>
              <a:rPr sz="950" b="0">
                <a:solidFill>
                  <a:srgbClr val="333F4C"/>
                </a:solidFill>
                <a:latin typeface="微软雅黑" charset="-122"/>
                <a:ea typeface="微软雅黑" charset="-122"/>
              </a:rPr>
              <a:t>越南现场实测三条曲线，校准冷损/成本/ROI 后进入规模化投资决策</a:t>
            </a:r>
            <a:endParaRPr sz="950" b="0">
              <a:solidFill>
                <a:srgbClr val="333F4C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6080000"/>
            <a:ext cx="11064240" cy="3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226045"/>
            <a:ext cx="1069848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C00000"/>
                </a:solidFill>
                <a:latin typeface="微软雅黑" charset="-122"/>
                <a:ea typeface="微软雅黑" charset="-122"/>
              </a:rPr>
              <a:t>所以呢：</a:t>
            </a:r>
            <a:r>
              <a:rPr sz="1100" b="0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胜负手不在技术——用 MVP 实测把「水罐=保命资产」转化为「保底水量+停水联动」的合同信任；首期资源全压路线 A</a:t>
            </a:r>
            <a:endParaRPr sz="1100" b="0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" y="6506520"/>
            <a:ext cx="11064240" cy="914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6570528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数据来源：越南家庭水罐蓄冷市场调研报告（2026-09）表 8/9/10、第 5/6/9 章 · 本报告实验页（常州，2025-09）· 1 元 ≈ 3,870 盾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54050" y="4957445"/>
            <a:ext cx="8249285" cy="11385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sz="200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3</a:t>
            </a:r>
            <a:r>
              <a:rPr sz="200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句</a:t>
            </a:r>
            <a:r>
              <a:rPr sz="200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结论：</a:t>
            </a:r>
            <a:endParaRPr sz="2000" b="1">
              <a:solidFill>
                <a:srgbClr val="003A7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- 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冰能降温，选好适合冰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量</a:t>
            </a:r>
            <a:r>
              <a:rPr 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-</a:t>
            </a:r>
            <a:r>
              <a:rPr 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8kg 12kg 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两个量级（对应）</a:t>
            </a:r>
            <a:r>
              <a:rPr lang="en-US" altLang="zh-CN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——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需要评估</a:t>
            </a:r>
            <a:endParaRPr b="1">
              <a:solidFill>
                <a:srgbClr val="00206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- 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冰蓄冷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-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水箱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 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是两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部分</a:t>
            </a:r>
            <a:r>
              <a:rPr lang="zh-CN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，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冰蓄冷</a:t>
            </a:r>
            <a:r>
              <a:rPr lang="en-US" altLang="zh-CN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——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储冰为（换热水箱</a:t>
            </a:r>
            <a:r>
              <a:rPr lang="en-US" altLang="zh-CN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-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内含铜管</a:t>
            </a:r>
            <a:r>
              <a:rPr lang="en-US" altLang="zh-CN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/</a:t>
            </a:r>
            <a:r>
              <a:rPr lang="zh-CN" altLang="en-US"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铝管）</a:t>
            </a:r>
            <a:endParaRPr b="1">
              <a:solidFill>
                <a:srgbClr val="002060"/>
              </a:solidFill>
              <a:latin typeface="微软雅黑" charset="-122"/>
              <a:ea typeface="微软雅黑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- 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渠道复用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——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水箱、冰箱、空调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 </a:t>
            </a:r>
            <a:r>
              <a:rPr b="1">
                <a:solidFill>
                  <a:srgbClr val="00B0F0"/>
                </a:solidFill>
                <a:latin typeface="微软雅黑" charset="-122"/>
                <a:ea typeface="微软雅黑" charset="-122"/>
                <a:sym typeface="+mn-ea"/>
              </a:rPr>
              <a:t>都有当地渠道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、能与户用光储产品包</a:t>
            </a:r>
            <a:r>
              <a:rPr b="1">
                <a:solidFill>
                  <a:srgbClr val="002060"/>
                </a:solidFill>
                <a:latin typeface="微软雅黑" charset="-122"/>
                <a:ea typeface="微软雅黑" charset="-122"/>
                <a:sym typeface="+mn-ea"/>
              </a:rPr>
              <a:t>互补</a:t>
            </a:r>
            <a:endParaRPr b="1">
              <a:solidFill>
                <a:srgbClr val="002060"/>
              </a:solidFill>
              <a:latin typeface="微软雅黑" charset="-122"/>
              <a:ea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0B2A4A"/>
                </a:solidFill>
                <a:latin typeface="微软雅黑" charset="-122"/>
                <a:ea typeface="微软雅黑" charset="-122"/>
              </a:rPr>
              <a:t>产品策略｜按“月用电量”选型，推荐产品包组合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7729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0">
                <a:solidFill>
                  <a:srgbClr val="5B6776"/>
                </a:solidFill>
                <a:latin typeface="微软雅黑" charset="-122"/>
                <a:ea typeface="微软雅黑" charset="-122"/>
              </a:rPr>
              <a:t>前期试点只定容量档位、不绑定品牌；产品包A–D为Pilot起点；天合产品12月底完成验证后中后期导入，春节前按运行数据定型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362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sz="850" b="0">
                <a:solidFill>
                  <a:srgbClr val="8A96A3"/>
                </a:solidFill>
                <a:latin typeface="微软雅黑" charset="-122"/>
                <a:ea typeface="微软雅黑" charset="-122"/>
              </a:rPr>
              <a:t>来源：越南户储产品容量包规格表V4.0锚定配置矩阵（会议1/2/3）；技术组（夜间负荷）；8站数据；普粤（8/10/12kW主力）；Tân Á询价；D级</a:t>
            </a:r>
            <a:r>
              <a:rPr lang="en-US" sz="850" b="0">
                <a:solidFill>
                  <a:srgbClr val="8A96A3"/>
                </a:solidFill>
                <a:latin typeface="微软雅黑" charset="-122"/>
                <a:ea typeface="微软雅黑" charset="-122"/>
              </a:rPr>
              <a:t> </a:t>
            </a:r>
            <a:r>
              <a:rPr lang="zh-CN" altLang="en-US" sz="850" b="0">
                <a:solidFill>
                  <a:srgbClr val="8A96A3"/>
                </a:solidFill>
                <a:latin typeface="微软雅黑" charset="-122"/>
                <a:ea typeface="微软雅黑" charset="-122"/>
              </a:rPr>
              <a:t>；容配比</a:t>
            </a:r>
            <a:r>
              <a:rPr lang="en-US" altLang="zh-CN" sz="850" b="0">
                <a:solidFill>
                  <a:srgbClr val="8A96A3"/>
                </a:solidFill>
                <a:latin typeface="微软雅黑" charset="-122"/>
                <a:ea typeface="微软雅黑" charset="-122"/>
              </a:rPr>
              <a:t> 1.15-12</a:t>
            </a:r>
            <a:endParaRPr lang="en-US" altLang="zh-CN" sz="850" b="0">
              <a:solidFill>
                <a:srgbClr val="8A96A3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6A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TrinaPower Vietnam｜越南户用光储商业模式、战略规划与行动方案｜管理层决策稿 2026-09-29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85855" y="6510528"/>
            <a:ext cx="5486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B6776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457200" y="1325880"/>
          <a:ext cx="11274425" cy="3488055"/>
        </p:xfrm>
        <a:graphic>
          <a:graphicData uri="http://schemas.openxmlformats.org/drawingml/2006/table">
            <a:tbl>
              <a:tblPr/>
              <a:tblGrid>
                <a:gridCol w="838200"/>
                <a:gridCol w="1042035"/>
                <a:gridCol w="854075"/>
                <a:gridCol w="899795"/>
                <a:gridCol w="1369695"/>
                <a:gridCol w="1971040"/>
                <a:gridCol w="881380"/>
                <a:gridCol w="1304925"/>
                <a:gridCol w="2113280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SKU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适配用户（月用电）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推荐产品包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逆变器档位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电池档位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光伏参考-</a:t>
                      </a: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浮动</a:t>
                      </a:r>
                      <a:r>
                        <a:rPr lang="en-US" altLang="zh-CN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4</a:t>
                      </a: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块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容配比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  <a:sym typeface="+mn-ea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安装面积</a:t>
                      </a:r>
                      <a:r>
                        <a:rPr lang="en-US" altLang="zh-CN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 </a:t>
                      </a:r>
                      <a:r>
                        <a:rPr lang="zh-CN" alt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2.7㎡/块</a:t>
                      </a:r>
                      <a:endParaRPr lang="zh-CN" altLang="en-US" sz="1100" b="1" dirty="0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  <a:sym typeface="+mn-ea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Pilot要验证</a:t>
                      </a:r>
                      <a:endParaRPr lang="en-US" sz="110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S 入门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300–500度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入门包 A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8kW 单相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5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约6.4-9kWp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（10~14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）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×640W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0.80-1.12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27~38㎡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小户型5kWh备电是否够用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M 主力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500–900度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商铺包 B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10kW 三相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10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约</a:t>
                      </a: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11.52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 kWp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（14~18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）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×640W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0.90~1.15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37.8~48.6㎡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销量占比、自用率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L 高用电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900–1,500度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工商包 C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15kW 三相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16 kWh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约</a:t>
                      </a: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14.08~16.64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 kWp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（22-26×640W）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0.94~1.11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59~70㎡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夜间负荷覆盖率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XL 高配/商户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≥1,500度或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纯家庭夜间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高配包 D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15kW 三相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32 kWh（2×16并联）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约</a:t>
                      </a: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14.08~16.64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kWp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22-26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×640W）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0.94~1.11</a:t>
                      </a:r>
                      <a:endParaRPr lang="en-US" altLang="zh-CN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59~70㎡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耗能工艺/商铺作坊场景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791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E 入门品类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&lt;300度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KA专供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中后期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800W/2kW 微逆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无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阳台2/4块组件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</a:t>
                      </a: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1.28kW/2.56kW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）</a:t>
                      </a:r>
                      <a:endParaRPr lang="zh-CN" alt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1.6/1.28</a:t>
                      </a:r>
                      <a:endParaRPr lang="en-US" altLang="zh-CN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5–10㎡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  <a:sym typeface="+mn-ea"/>
                        </a:rPr>
                        <a:t>不上网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B7791F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F 入门品类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highlight>
                            <a:srgbClr val="FFFF00"/>
                          </a:highlight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&lt;300度</a:t>
                      </a:r>
                      <a:endParaRPr lang="en-US" sz="1050" dirty="0">
                        <a:solidFill>
                          <a:srgbClr val="1A2433"/>
                        </a:solidFill>
                        <a:highlight>
                          <a:srgbClr val="FFFF00"/>
                        </a:highlight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KA专供</a:t>
                      </a:r>
                      <a:endParaRPr 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（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中后期</a:t>
                      </a: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）</a:t>
                      </a:r>
                      <a:endParaRPr 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  <a:p>
                      <a:pPr marL="0" indent="0" algn="l">
                        <a:buNone/>
                      </a:pPr>
                      <a:endParaRPr lang="en-US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分体式</a:t>
                      </a: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/</a:t>
                      </a: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储</a:t>
                      </a: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逆一体机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  <a:sym typeface="+mn-ea"/>
                        </a:rPr>
                        <a:t>可选 2 kWh/4kWh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阳台2/4块组件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（</a:t>
                      </a: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1.28kW/2.56kW</a:t>
                      </a:r>
                      <a:r>
                        <a:rPr lang="zh-CN" altLang="en-US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）</a:t>
                      </a:r>
                      <a:endParaRPr lang="zh-CN" altLang="en-US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altLang="zh-CN" sz="1050" dirty="0">
                          <a:solidFill>
                            <a:srgbClr val="1A2433"/>
                          </a:solidFill>
                          <a:latin typeface="微软雅黑" charset="-122"/>
                          <a:ea typeface="微软雅黑" charset="-122"/>
                          <a:cs typeface="微软雅黑" pitchFamily="34" charset="-120"/>
                        </a:rPr>
                        <a:t>1.6/1.28</a:t>
                      </a:r>
                      <a:endParaRPr lang="en-US" altLang="zh-CN" sz="1050" dirty="0">
                        <a:solidFill>
                          <a:srgbClr val="1A2433"/>
                        </a:solidFill>
                        <a:latin typeface="微软雅黑" charset="-122"/>
                        <a:ea typeface="微软雅黑" charset="-122"/>
                        <a:cs typeface="微软雅黑" pitchFamily="34" charset="-12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5–10㎡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不上网</a:t>
                      </a:r>
                      <a:endParaRPr lang="zh-CN" altLang="en-US" sz="1050" dirty="0"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457200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 txBox="1"/>
          <p:nvPr>
            <p:custDataLst>
              <p:tags r:id="rId2"/>
            </p:custDataLst>
          </p:nvPr>
        </p:nvSpPr>
        <p:spPr>
          <a:xfrm>
            <a:off x="621792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统一选型规则</a:t>
            </a:r>
            <a:endParaRPr lang="en-US" sz="1250" dirty="0"/>
          </a:p>
        </p:txBody>
      </p:sp>
      <p:sp>
        <p:nvSpPr>
          <p:cNvPr id="10" name="Text 7"/>
          <p:cNvSpPr txBox="1"/>
          <p:nvPr>
            <p:custDataLst>
              <p:tags r:id="rId3"/>
            </p:custDataLst>
          </p:nvPr>
        </p:nvSpPr>
        <p:spPr>
          <a:xfrm>
            <a:off x="621792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以12个月电费单+白天/</a:t>
            </a:r>
            <a:r>
              <a:rPr lang="en-US" sz="1050" dirty="0" err="1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夜间负荷推算PV与储能</a:t>
            </a:r>
            <a:endParaRPr lang="en-US" sz="105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4261104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 txBox="1"/>
          <p:nvPr>
            <p:custDataLst>
              <p:tags r:id="rId5"/>
            </p:custDataLst>
          </p:nvPr>
        </p:nvSpPr>
        <p:spPr>
          <a:xfrm>
            <a:off x="4425696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统一硬件架构</a:t>
            </a:r>
            <a:endParaRPr lang="en-US" sz="1250" dirty="0"/>
          </a:p>
        </p:txBody>
      </p:sp>
      <p:sp>
        <p:nvSpPr>
          <p:cNvPr id="13" name="Text 10"/>
          <p:cNvSpPr txBox="1"/>
          <p:nvPr>
            <p:custDataLst>
              <p:tags r:id="rId6"/>
            </p:custDataLst>
          </p:nvPr>
        </p:nvSpPr>
        <p:spPr>
          <a:xfrm>
            <a:off x="4425696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48V低压电池平台；全部混合逆变器，未配储客户可后装</a:t>
            </a:r>
            <a:r>
              <a:rPr lang="zh-CN" alt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，</a:t>
            </a:r>
            <a:r>
              <a:rPr lang="zh-CN" alt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三相低压逆变器</a:t>
            </a:r>
            <a:r>
              <a:rPr lang="en-US" altLang="zh-CN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+</a:t>
            </a:r>
            <a:r>
              <a:rPr lang="zh-CN" alt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低压</a:t>
            </a:r>
            <a:r>
              <a:rPr lang="zh-CN" alt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电池</a:t>
            </a:r>
            <a:endParaRPr lang="zh-CN" altLang="en-US" sz="1050" dirty="0">
              <a:solidFill>
                <a:srgbClr val="1A2433"/>
              </a:solidFill>
              <a:latin typeface="微软雅黑" charset="-122"/>
              <a:ea typeface="微软雅黑" charset="-122"/>
              <a:cs typeface="微软雅黑" pitchFamily="34" charset="-120"/>
            </a:endParaRPr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8065008" y="4983480"/>
            <a:ext cx="3611880" cy="1097280"/>
          </a:xfrm>
          <a:prstGeom prst="roundRect">
            <a:avLst>
              <a:gd name="adj" fmla="val 5000"/>
            </a:avLst>
          </a:prstGeom>
          <a:solidFill>
            <a:srgbClr val="F5F8FB"/>
          </a:solidFill>
          <a:ln w="9525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 txBox="1"/>
          <p:nvPr>
            <p:custDataLst>
              <p:tags r:id="rId8"/>
            </p:custDataLst>
          </p:nvPr>
        </p:nvSpPr>
        <p:spPr>
          <a:xfrm>
            <a:off x="8229600" y="5111496"/>
            <a:ext cx="32826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A4A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BOS白名单</a:t>
            </a:r>
            <a:endParaRPr lang="en-US" sz="1250" dirty="0"/>
          </a:p>
        </p:txBody>
      </p:sp>
      <p:sp>
        <p:nvSpPr>
          <p:cNvPr id="16" name="Text 13"/>
          <p:cNvSpPr txBox="1"/>
          <p:nvPr>
            <p:custDataLst>
              <p:tags r:id="rId9"/>
            </p:custDataLst>
          </p:nvPr>
        </p:nvSpPr>
        <p:spPr>
          <a:xfrm>
            <a:off x="8229600" y="5477256"/>
            <a:ext cx="3282696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微软雅黑" charset="-122"/>
                <a:ea typeface="微软雅黑" charset="-122"/>
                <a:cs typeface="微软雅黑" pitchFamily="34" charset="-120"/>
              </a:rPr>
              <a:t>TP按SKU发布支架、SPD、接地、线缆、电表的品牌/规格白名单；Dealer本地自采，验收时核对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46888"/>
            <a:ext cx="11155680" cy="32918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B2A4A"/>
                </a:solidFill>
                <a:latin typeface="微软雅黑" charset="-122"/>
              </a:rPr>
              <a:t>综合能源方案对比｜按屋顶面积倒排</a:t>
            </a:r>
            <a:endParaRPr sz="2200" b="1">
              <a:solidFill>
                <a:srgbClr val="0B2A4A"/>
              </a:solidFill>
              <a:latin typeface="微软雅黑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109960" cy="21945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5B6776"/>
                </a:solidFill>
                <a:latin typeface="微软雅黑" charset="-122"/>
              </a:rPr>
              <a:t>从面积上限 → 光伏容量 → 逆变/储能 → 日发电 → 可带动负载 → 备电时长，逐层校核产品包</a:t>
            </a:r>
            <a:endParaRPr sz="112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987552"/>
            <a:ext cx="11155680" cy="502920"/>
          </a:xfrm>
          <a:prstGeom prst="roundRect">
            <a:avLst/>
          </a:prstGeom>
          <a:solidFill>
            <a:srgbClr val="0B2A4A"/>
          </a:solidFill>
          <a:ln w="889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155680" cy="502920"/>
          </a:xfrm>
          <a:prstGeom prst="rect">
            <a:avLst/>
          </a:prstGeom>
          <a:noFill/>
          <a:effectLst/>
        </p:spPr>
        <p:txBody>
          <a:bodyPr wrap="none" lIns="73152" tIns="18288" rIns="73152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FFFFFF"/>
                </a:solidFill>
                <a:latin typeface="微软雅黑" charset="-122"/>
              </a:rPr>
              <a:t>综合能源</a:t>
            </a:r>
            <a:r>
              <a:rPr sz="1350" b="1">
                <a:solidFill>
                  <a:srgbClr val="A9DDF0"/>
                </a:solidFill>
                <a:latin typeface="微软雅黑" charset="-122"/>
              </a:rPr>
              <a:t>  =  </a:t>
            </a:r>
            <a:r>
              <a:rPr sz="1250" b="1">
                <a:solidFill>
                  <a:srgbClr val="FFFFFF"/>
                </a:solidFill>
                <a:latin typeface="微软雅黑" charset="-122"/>
              </a:rPr>
              <a:t>光伏发电</a:t>
            </a:r>
            <a:r>
              <a:rPr sz="1150" b="1">
                <a:solidFill>
                  <a:srgbClr val="A9DDF0"/>
                </a:solidFill>
                <a:latin typeface="微软雅黑" charset="-122"/>
              </a:rPr>
              <a:t>  +  </a:t>
            </a:r>
            <a:r>
              <a:rPr sz="1250" b="1">
                <a:solidFill>
                  <a:srgbClr val="FFFFFF"/>
                </a:solidFill>
                <a:latin typeface="微软雅黑" charset="-122"/>
              </a:rPr>
              <a:t>储能备电</a:t>
            </a:r>
            <a:r>
              <a:rPr sz="1150" b="1">
                <a:solidFill>
                  <a:srgbClr val="A9DDF0"/>
                </a:solidFill>
                <a:latin typeface="微软雅黑" charset="-122"/>
              </a:rPr>
              <a:t>  +  </a:t>
            </a:r>
            <a:r>
              <a:rPr sz="1250" b="1">
                <a:solidFill>
                  <a:srgbClr val="FFFFFF"/>
                </a:solidFill>
                <a:latin typeface="微软雅黑" charset="-122"/>
              </a:rPr>
              <a:t>混合逆变</a:t>
            </a:r>
            <a:r>
              <a:rPr sz="1150" b="1">
                <a:solidFill>
                  <a:srgbClr val="A9DDF0"/>
                </a:solidFill>
                <a:latin typeface="微软雅黑" charset="-122"/>
              </a:rPr>
              <a:t>  +  </a:t>
            </a:r>
            <a:r>
              <a:rPr sz="1250" b="1">
                <a:solidFill>
                  <a:srgbClr val="FFFFFF"/>
                </a:solidFill>
                <a:latin typeface="微软雅黑" charset="-122"/>
              </a:rPr>
              <a:t>智能管理</a:t>
            </a:r>
            <a:r>
              <a:rPr sz="920" b="0">
                <a:solidFill>
                  <a:srgbClr val="C9E8F5"/>
                </a:solidFill>
                <a:latin typeface="微软雅黑" charset="-122"/>
              </a:rPr>
              <a:t>    ｜按㎡倒排可落地容量</a:t>
            </a:r>
            <a:endParaRPr sz="920" b="0">
              <a:solidFill>
                <a:srgbClr val="C9E8F5"/>
              </a:solidFill>
              <a:latin typeface="微软雅黑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609344"/>
            <a:ext cx="2121408" cy="4846320"/>
          </a:xfrm>
          <a:prstGeom prst="rect">
            <a:avLst/>
          </a:prstGeom>
          <a:solidFill>
            <a:srgbClr val="F4F7FA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9344"/>
            <a:ext cx="2121408" cy="932688"/>
          </a:xfrm>
          <a:prstGeom prst="rect">
            <a:avLst/>
          </a:prstGeom>
          <a:solidFill>
            <a:srgbClr val="0B2A4A"/>
          </a:solidFill>
          <a:ln w="889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682496"/>
            <a:ext cx="1975103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微软雅黑" charset="-122"/>
              </a:rPr>
              <a:t>59–70㎡</a:t>
            </a:r>
            <a:endParaRPr sz="205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0352" y="2020824"/>
            <a:ext cx="1975103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9EEF8"/>
                </a:solidFill>
                <a:latin typeface="Arial" panose="020B0704020202020204"/>
              </a:rPr>
              <a:t>ROOF AREA</a:t>
            </a:r>
            <a:endParaRPr sz="720" b="1">
              <a:solidFill>
                <a:srgbClr val="D9EEF8"/>
              </a:solidFill>
              <a:latin typeface="Arial" panose="020B07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" y="2231136"/>
            <a:ext cx="1975103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微软雅黑" charset="-122"/>
              </a:rPr>
              <a:t>XL 高配包 D</a:t>
            </a:r>
            <a:endParaRPr sz="108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6072" y="26151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光伏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6072" y="27614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14.08–16.64 kWp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072" y="2926080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22–26块×640W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6072" y="304952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0723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逆变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6072" y="32186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15kW 三相｜混合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072" y="338328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6072" y="34427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34655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储能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6072" y="36118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32kWh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76072" y="37764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2×16并联｜约28.8kWh可用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76072" y="38999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39227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B2A4A"/>
                </a:solidFill>
                <a:latin typeface="微软雅黑" charset="-122"/>
              </a:rPr>
              <a:t>日发电</a:t>
            </a:r>
            <a:endParaRPr sz="770" b="1">
              <a:solidFill>
                <a:srgbClr val="0B2A4A"/>
              </a:solidFill>
              <a:latin typeface="微软雅黑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6072" y="40690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49–75 kWh/日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6072" y="42336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3.5–4.5h等效日照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76072" y="43571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3799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可带动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6072" y="45262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576072" y="4690872"/>
            <a:ext cx="1883663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0" name="Rectangle 29"/>
          <p:cNvSpPr/>
          <p:nvPr/>
        </p:nvSpPr>
        <p:spPr>
          <a:xfrm>
            <a:off x="576072" y="4869180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72" y="4892040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B2A4A"/>
                </a:solidFill>
                <a:latin typeface="微软雅黑" charset="-122"/>
              </a:rPr>
              <a:t>备电时长</a:t>
            </a:r>
            <a:endParaRPr sz="770" b="1">
              <a:solidFill>
                <a:srgbClr val="0B2A4A"/>
              </a:solidFill>
              <a:latin typeface="微软雅黑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6072" y="5038344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A2433"/>
                </a:solidFill>
                <a:latin typeface="微软雅黑" charset="-122"/>
              </a:rPr>
              <a:t>空调12–20h｜冰箱24h</a:t>
            </a:r>
            <a:endParaRPr sz="86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6072" y="5202936"/>
            <a:ext cx="1883663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照明/风扇24h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76072" y="547268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549554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适配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76072" y="564184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≥1,500度/月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76072" y="580644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纯家庭夜间 / 商户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66928" y="6099048"/>
            <a:ext cx="1901952" cy="246888"/>
          </a:xfrm>
          <a:prstGeom prst="roundRect">
            <a:avLst/>
          </a:prstGeom>
          <a:solidFill>
            <a:srgbClr val="E9F6FC"/>
          </a:solidFill>
          <a:ln w="8890">
            <a:solidFill>
              <a:srgbClr val="E9F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6135624"/>
            <a:ext cx="1865376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0B2A4A"/>
                </a:solidFill>
                <a:latin typeface="微软雅黑" charset="-122"/>
              </a:rPr>
              <a:t>全天舒适与经营保障</a:t>
            </a:r>
            <a:endParaRPr sz="820" b="1">
              <a:solidFill>
                <a:srgbClr val="0B2A4A"/>
              </a:solidFill>
              <a:latin typeface="微软雅黑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24912" y="1609344"/>
            <a:ext cx="2121408" cy="4846320"/>
          </a:xfrm>
          <a:prstGeom prst="rect">
            <a:avLst/>
          </a:prstGeom>
          <a:solidFill>
            <a:srgbClr val="F4F7FA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24912" y="1609344"/>
            <a:ext cx="2121408" cy="932688"/>
          </a:xfrm>
          <a:prstGeom prst="rect">
            <a:avLst/>
          </a:prstGeom>
          <a:solidFill>
            <a:srgbClr val="0085CA"/>
          </a:solidFill>
          <a:ln w="8890">
            <a:solidFill>
              <a:srgbClr val="0085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98064" y="1682496"/>
            <a:ext cx="1975103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微软雅黑" charset="-122"/>
              </a:rPr>
              <a:t>59–70㎡</a:t>
            </a:r>
            <a:endParaRPr sz="205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98064" y="2020824"/>
            <a:ext cx="1975103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9EEF8"/>
                </a:solidFill>
                <a:latin typeface="Arial" panose="020B0704020202020204"/>
              </a:rPr>
              <a:t>ROOF AREA</a:t>
            </a:r>
            <a:endParaRPr sz="720" b="1">
              <a:solidFill>
                <a:srgbClr val="D9EEF8"/>
              </a:solidFill>
              <a:latin typeface="Arial" panose="020B070402020202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798064" y="2231136"/>
            <a:ext cx="1975103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微软雅黑" charset="-122"/>
              </a:rPr>
              <a:t>L 工商包 C</a:t>
            </a:r>
            <a:endParaRPr sz="108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843784" y="26151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光伏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43784" y="27614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14.08–16.64 kWp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843784" y="2926080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22–26块×640W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843784" y="304952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43784" y="30723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逆变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43784" y="32186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15kW 三相｜混合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43784" y="338328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843784" y="34427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43784" y="34655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储能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843784" y="36118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16kWh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843784" y="37764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单电池｜约14.4kWh可用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843784" y="38999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43784" y="39227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85CA"/>
                </a:solidFill>
                <a:latin typeface="微软雅黑" charset="-122"/>
              </a:rPr>
              <a:t>日发电</a:t>
            </a:r>
            <a:endParaRPr sz="770" b="1">
              <a:solidFill>
                <a:srgbClr val="0085CA"/>
              </a:solidFill>
              <a:latin typeface="微软雅黑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843784" y="40690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49–75 kWh/日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43784" y="42336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3.5–4.5h等效日照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843784" y="43571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43784" y="43799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可带动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843784" y="45262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3" name="TextBox 62"/>
          <p:cNvSpPr txBox="1"/>
          <p:nvPr/>
        </p:nvSpPr>
        <p:spPr>
          <a:xfrm>
            <a:off x="2843784" y="4690872"/>
            <a:ext cx="1883663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4" name="Rectangle 63"/>
          <p:cNvSpPr/>
          <p:nvPr/>
        </p:nvSpPr>
        <p:spPr>
          <a:xfrm>
            <a:off x="2843784" y="4869180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843784" y="4892040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85CA"/>
                </a:solidFill>
                <a:latin typeface="微软雅黑" charset="-122"/>
              </a:rPr>
              <a:t>备电时长</a:t>
            </a:r>
            <a:endParaRPr sz="770" b="1">
              <a:solidFill>
                <a:srgbClr val="0085CA"/>
              </a:solidFill>
              <a:latin typeface="微软雅黑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843784" y="5038344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A2433"/>
                </a:solidFill>
                <a:latin typeface="微软雅黑" charset="-122"/>
              </a:rPr>
              <a:t>空调6–10h｜冰箱24h</a:t>
            </a:r>
            <a:endParaRPr sz="86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843784" y="5202936"/>
            <a:ext cx="1883663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照明/风扇16–24h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2843784" y="547268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43784" y="549554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适配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2843784" y="564184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900–1,500度/月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2843784" y="580644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高用电家庭 / 小工商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2834640" y="6099048"/>
            <a:ext cx="1901952" cy="246888"/>
          </a:xfrm>
          <a:prstGeom prst="roundRect">
            <a:avLst/>
          </a:prstGeom>
          <a:solidFill>
            <a:srgbClr val="E9F6FC"/>
          </a:solidFill>
          <a:ln w="8890">
            <a:solidFill>
              <a:srgbClr val="E9F6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52928" y="6135624"/>
            <a:ext cx="1865376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0085CA"/>
                </a:solidFill>
                <a:latin typeface="微软雅黑" charset="-122"/>
              </a:rPr>
              <a:t>高负载家庭与小工商</a:t>
            </a:r>
            <a:endParaRPr sz="820" b="1">
              <a:solidFill>
                <a:srgbClr val="0085CA"/>
              </a:solidFill>
              <a:latin typeface="微软雅黑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992624" y="1609344"/>
            <a:ext cx="2121408" cy="4846320"/>
          </a:xfrm>
          <a:prstGeom prst="rect">
            <a:avLst/>
          </a:prstGeom>
          <a:solidFill>
            <a:srgbClr val="F4F7FA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992624" y="1609344"/>
            <a:ext cx="2121408" cy="932688"/>
          </a:xfrm>
          <a:prstGeom prst="rect">
            <a:avLst/>
          </a:prstGeom>
          <a:solidFill>
            <a:srgbClr val="009A93"/>
          </a:solidFill>
          <a:ln w="8890">
            <a:solidFill>
              <a:srgbClr val="009A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65776" y="1682496"/>
            <a:ext cx="1975103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微软雅黑" charset="-122"/>
              </a:rPr>
              <a:t>37.8–48.6㎡</a:t>
            </a:r>
            <a:endParaRPr sz="205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065776" y="2020824"/>
            <a:ext cx="1975103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9EEF8"/>
                </a:solidFill>
                <a:latin typeface="Arial" panose="020B0704020202020204"/>
              </a:rPr>
              <a:t>ROOF AREA</a:t>
            </a:r>
            <a:endParaRPr sz="720" b="1">
              <a:solidFill>
                <a:srgbClr val="D9EEF8"/>
              </a:solidFill>
              <a:latin typeface="Arial" panose="020B0704020202020204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065776" y="2231136"/>
            <a:ext cx="1975103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微软雅黑" charset="-122"/>
              </a:rPr>
              <a:t>M 商铺包 B</a:t>
            </a:r>
            <a:endParaRPr sz="108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111496" y="26151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光伏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111496" y="27614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约11.52 kWp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111496" y="2926080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14–18块×640W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111496" y="304952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11496" y="30723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逆变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111496" y="32186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10kW 三相｜混合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111496" y="338328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5111496" y="34427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111496" y="34655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储能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111496" y="36118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10kWh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111496" y="37764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标准备电｜约9kWh可用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5111496" y="38999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111496" y="39227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9A93"/>
                </a:solidFill>
                <a:latin typeface="微软雅黑" charset="-122"/>
              </a:rPr>
              <a:t>日发电</a:t>
            </a:r>
            <a:endParaRPr sz="770" b="1">
              <a:solidFill>
                <a:srgbClr val="009A93"/>
              </a:solidFill>
              <a:latin typeface="微软雅黑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111496" y="40690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40–52 kWh/日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111496" y="42336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3.5–4.5h等效日照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111496" y="43571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111496" y="43799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可带动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111496" y="45262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7" name="TextBox 96"/>
          <p:cNvSpPr txBox="1"/>
          <p:nvPr/>
        </p:nvSpPr>
        <p:spPr>
          <a:xfrm>
            <a:off x="5111496" y="4690872"/>
            <a:ext cx="1883663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98" name="Rectangle 97"/>
          <p:cNvSpPr/>
          <p:nvPr/>
        </p:nvSpPr>
        <p:spPr>
          <a:xfrm>
            <a:off x="5111496" y="4869180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111496" y="4892040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009A93"/>
                </a:solidFill>
                <a:latin typeface="微软雅黑" charset="-122"/>
              </a:rPr>
              <a:t>备电时长</a:t>
            </a:r>
            <a:endParaRPr sz="770" b="1">
              <a:solidFill>
                <a:srgbClr val="009A93"/>
              </a:solidFill>
              <a:latin typeface="微软雅黑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111496" y="5038344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A2433"/>
                </a:solidFill>
                <a:latin typeface="微软雅黑" charset="-122"/>
              </a:rPr>
              <a:t>空调4–6h｜冰箱16–24h</a:t>
            </a:r>
            <a:endParaRPr sz="86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111496" y="5202936"/>
            <a:ext cx="1883663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照明/风扇10–16h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5111496" y="547268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111496" y="549554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适配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111496" y="564184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500–900度/月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111496" y="580644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成长型家庭 / 商铺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5102352" y="6099048"/>
            <a:ext cx="1901952" cy="246888"/>
          </a:xfrm>
          <a:prstGeom prst="roundRect">
            <a:avLst/>
          </a:prstGeom>
          <a:solidFill>
            <a:srgbClr val="EFF7EA"/>
          </a:solidFill>
          <a:ln w="8890">
            <a:solidFill>
              <a:srgbClr val="EFF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120640" y="6135624"/>
            <a:ext cx="1865376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009A93"/>
                </a:solidFill>
                <a:latin typeface="微软雅黑" charset="-122"/>
              </a:rPr>
              <a:t>销量主力与均衡配置</a:t>
            </a:r>
            <a:endParaRPr sz="820" b="1">
              <a:solidFill>
                <a:srgbClr val="009A93"/>
              </a:solidFill>
              <a:latin typeface="微软雅黑" charset="-122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7260336" y="1609344"/>
            <a:ext cx="2121408" cy="4846320"/>
          </a:xfrm>
          <a:prstGeom prst="rect">
            <a:avLst/>
          </a:prstGeom>
          <a:solidFill>
            <a:srgbClr val="F4F7FA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260336" y="1609344"/>
            <a:ext cx="2121408" cy="932688"/>
          </a:xfrm>
          <a:prstGeom prst="rect">
            <a:avLst/>
          </a:prstGeom>
          <a:solidFill>
            <a:srgbClr val="65A530"/>
          </a:solidFill>
          <a:ln w="8890">
            <a:solidFill>
              <a:srgbClr val="65A5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333488" y="1682496"/>
            <a:ext cx="1975103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微软雅黑" charset="-122"/>
              </a:rPr>
              <a:t>27–38㎡</a:t>
            </a:r>
            <a:endParaRPr sz="205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7333488" y="2020824"/>
            <a:ext cx="1975103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9EEF8"/>
                </a:solidFill>
                <a:latin typeface="Arial" panose="020B0704020202020204"/>
              </a:rPr>
              <a:t>ROOF AREA</a:t>
            </a:r>
            <a:endParaRPr sz="720" b="1">
              <a:solidFill>
                <a:srgbClr val="D9EEF8"/>
              </a:solidFill>
              <a:latin typeface="Arial" panose="020B0704020202020204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333488" y="2231136"/>
            <a:ext cx="1975103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微软雅黑" charset="-122"/>
              </a:rPr>
              <a:t>S 入门包 A</a:t>
            </a:r>
            <a:endParaRPr sz="108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379208" y="26151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光伏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7379208" y="27614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约6.4–9 kWp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7379208" y="2926080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10–14块×640W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7379208" y="304952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379208" y="30723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逆变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7379208" y="32186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8kW 单相｜混合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7379208" y="338328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7379208" y="34427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379208" y="34655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储能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7379208" y="36118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5kWh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7379208" y="37764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入门备电｜约4.5kWh可用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7379208" y="38999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379208" y="39227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65A530"/>
                </a:solidFill>
                <a:latin typeface="微软雅黑" charset="-122"/>
              </a:rPr>
              <a:t>日发电</a:t>
            </a:r>
            <a:endParaRPr sz="770" b="1">
              <a:solidFill>
                <a:srgbClr val="65A530"/>
              </a:solidFill>
              <a:latin typeface="微软雅黑" charset="-122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7379208" y="40690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22–41 kWh/日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7379208" y="42336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3.5–4.5h等效日照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28" name="Rectangle 127"/>
          <p:cNvSpPr/>
          <p:nvPr/>
        </p:nvSpPr>
        <p:spPr>
          <a:xfrm>
            <a:off x="7379208" y="43571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379208" y="43799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可带动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7379208" y="45262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1" name="TextBox 130"/>
          <p:cNvSpPr txBox="1"/>
          <p:nvPr/>
        </p:nvSpPr>
        <p:spPr>
          <a:xfrm>
            <a:off x="7379208" y="4690872"/>
            <a:ext cx="1883663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2" name="Rectangle 131"/>
          <p:cNvSpPr/>
          <p:nvPr/>
        </p:nvSpPr>
        <p:spPr>
          <a:xfrm>
            <a:off x="7379208" y="4869180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379208" y="4892040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65A530"/>
                </a:solidFill>
                <a:latin typeface="微软雅黑" charset="-122"/>
              </a:rPr>
              <a:t>备电时长</a:t>
            </a:r>
            <a:endParaRPr sz="770" b="1">
              <a:solidFill>
                <a:srgbClr val="65A530"/>
              </a:solidFill>
              <a:latin typeface="微软雅黑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7379208" y="5038344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A2433"/>
                </a:solidFill>
                <a:latin typeface="微软雅黑" charset="-122"/>
              </a:rPr>
              <a:t>风扇6–8h｜冰箱8–12h</a:t>
            </a:r>
            <a:endParaRPr sz="86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7379208" y="5202936"/>
            <a:ext cx="1883663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照明/WiFi 8–12h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36" name="Rectangle 135"/>
          <p:cNvSpPr/>
          <p:nvPr/>
        </p:nvSpPr>
        <p:spPr>
          <a:xfrm>
            <a:off x="7379208" y="547268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79208" y="549554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适配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7379208" y="564184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300–500度/月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7379208" y="580644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小户型 / 入门用户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40" name="Rounded Rectangle 139"/>
          <p:cNvSpPr/>
          <p:nvPr/>
        </p:nvSpPr>
        <p:spPr>
          <a:xfrm>
            <a:off x="7370063" y="6099048"/>
            <a:ext cx="1901952" cy="246888"/>
          </a:xfrm>
          <a:prstGeom prst="roundRect">
            <a:avLst/>
          </a:prstGeom>
          <a:solidFill>
            <a:srgbClr val="EFF7EA"/>
          </a:solidFill>
          <a:ln w="8890">
            <a:solidFill>
              <a:srgbClr val="EFF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388352" y="6135624"/>
            <a:ext cx="1865376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65A530"/>
                </a:solidFill>
                <a:latin typeface="微软雅黑" charset="-122"/>
              </a:rPr>
              <a:t>小户型基础保障</a:t>
            </a:r>
            <a:endParaRPr sz="820" b="1">
              <a:solidFill>
                <a:srgbClr val="65A530"/>
              </a:solidFill>
              <a:latin typeface="微软雅黑" charset="-122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9528048" y="1609344"/>
            <a:ext cx="2121408" cy="4846320"/>
          </a:xfrm>
          <a:prstGeom prst="rect">
            <a:avLst/>
          </a:prstGeom>
          <a:solidFill>
            <a:srgbClr val="F4F7FA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528048" y="1609344"/>
            <a:ext cx="2121408" cy="932688"/>
          </a:xfrm>
          <a:prstGeom prst="rect">
            <a:avLst/>
          </a:prstGeom>
          <a:solidFill>
            <a:srgbClr val="F08A24"/>
          </a:solidFill>
          <a:ln w="8890">
            <a:solidFill>
              <a:srgbClr val="F0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9601200" y="1682496"/>
            <a:ext cx="1975103" cy="29260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50" b="1">
                <a:solidFill>
                  <a:srgbClr val="FFFFFF"/>
                </a:solidFill>
                <a:latin typeface="微软雅黑" charset="-122"/>
              </a:rPr>
              <a:t>5–10㎡</a:t>
            </a:r>
            <a:endParaRPr sz="205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9601200" y="2020824"/>
            <a:ext cx="1975103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D9EEF8"/>
                </a:solidFill>
                <a:latin typeface="Arial" panose="020B0704020202020204"/>
              </a:rPr>
              <a:t>ROOF AREA</a:t>
            </a:r>
            <a:endParaRPr sz="720" b="1">
              <a:solidFill>
                <a:srgbClr val="D9EEF8"/>
              </a:solidFill>
              <a:latin typeface="Arial" panose="020B0704020202020204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9601200" y="2231136"/>
            <a:ext cx="1975103" cy="20116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微软雅黑" charset="-122"/>
              </a:rPr>
              <a:t>E 入门品类</a:t>
            </a:r>
            <a:endParaRPr sz="1080" b="1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9646920" y="26151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光伏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9646920" y="276148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1.28 / 2.56 kWp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9646920" y="2926080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阳台2/4块组件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50" name="Rectangle 149"/>
          <p:cNvSpPr/>
          <p:nvPr/>
        </p:nvSpPr>
        <p:spPr>
          <a:xfrm>
            <a:off x="9646920" y="304952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646920" y="307238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逆变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9646920" y="3218688"/>
            <a:ext cx="962660" cy="14605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800W/2kW 微逆</a:t>
            </a:r>
            <a:endParaRPr lang="zh-CN"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9646920" y="338328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9646920" y="34427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646920" y="34655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储能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9646920" y="3611880"/>
            <a:ext cx="836295" cy="14605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2kWh</a:t>
            </a:r>
            <a:r>
              <a:rPr lang="zh-CN" sz="950" b="1">
                <a:solidFill>
                  <a:srgbClr val="1A2433"/>
                </a:solidFill>
                <a:latin typeface="微软雅黑" charset="-122"/>
              </a:rPr>
              <a:t>（</a:t>
            </a:r>
            <a:r>
              <a:rPr lang="zh-CN" altLang="en-US" sz="950" b="1">
                <a:solidFill>
                  <a:srgbClr val="1A2433"/>
                </a:solidFill>
                <a:latin typeface="微软雅黑" charset="-122"/>
                <a:sym typeface="+mn-ea"/>
              </a:rPr>
              <a:t>选配</a:t>
            </a:r>
            <a:r>
              <a:rPr lang="zh-CN" sz="950" b="1">
                <a:solidFill>
                  <a:srgbClr val="1A2433"/>
                </a:solidFill>
                <a:latin typeface="微软雅黑" charset="-122"/>
              </a:rPr>
              <a:t>）</a:t>
            </a:r>
            <a:endParaRPr lang="zh-CN"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9646920" y="37764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可选｜约1.8kWh可用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58" name="Rectangle 157"/>
          <p:cNvSpPr/>
          <p:nvPr/>
        </p:nvSpPr>
        <p:spPr>
          <a:xfrm>
            <a:off x="9646920" y="38999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646920" y="39227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08A24"/>
                </a:solidFill>
                <a:latin typeface="微软雅黑" charset="-122"/>
              </a:rPr>
              <a:t>日发电</a:t>
            </a:r>
            <a:endParaRPr sz="770" b="1">
              <a:solidFill>
                <a:srgbClr val="F08A24"/>
              </a:solidFill>
              <a:latin typeface="微软雅黑" charset="-122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9646920" y="40690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4.5–11.5 kWh/日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9646920" y="4233672"/>
            <a:ext cx="1883663" cy="12801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3.5–4.5h等效日照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62" name="Rectangle 161"/>
          <p:cNvSpPr/>
          <p:nvPr/>
        </p:nvSpPr>
        <p:spPr>
          <a:xfrm>
            <a:off x="9646920" y="4357116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646920" y="4379976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可带动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9646920" y="4526280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5" name="TextBox 164"/>
          <p:cNvSpPr txBox="1"/>
          <p:nvPr/>
        </p:nvSpPr>
        <p:spPr>
          <a:xfrm>
            <a:off x="9646920" y="4690872"/>
            <a:ext cx="1883663" cy="18288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6" name="Rectangle 165"/>
          <p:cNvSpPr/>
          <p:nvPr/>
        </p:nvSpPr>
        <p:spPr>
          <a:xfrm>
            <a:off x="9646920" y="4869180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646920" y="4892040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F08A24"/>
                </a:solidFill>
                <a:latin typeface="微软雅黑" charset="-122"/>
              </a:rPr>
              <a:t>备电时长</a:t>
            </a:r>
            <a:endParaRPr sz="770" b="1">
              <a:solidFill>
                <a:srgbClr val="F08A24"/>
              </a:solidFill>
              <a:latin typeface="微软雅黑" charset="-122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9646920" y="5038344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1A2433"/>
                </a:solidFill>
                <a:latin typeface="微软雅黑" charset="-122"/>
              </a:rPr>
              <a:t>风扇2–3h｜照明6–10h</a:t>
            </a:r>
            <a:endParaRPr sz="86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9646920" y="5202936"/>
            <a:ext cx="1883663" cy="27432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WiFi 6–10h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9646920" y="5472684"/>
            <a:ext cx="1883663" cy="7315"/>
          </a:xfrm>
          <a:prstGeom prst="rect">
            <a:avLst/>
          </a:prstGeom>
          <a:solidFill>
            <a:srgbClr val="D7DFE7"/>
          </a:solidFill>
          <a:ln w="8890">
            <a:solidFill>
              <a:srgbClr val="D7DF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646920" y="5495544"/>
            <a:ext cx="1883663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5B6776"/>
                </a:solidFill>
                <a:latin typeface="微软雅黑" charset="-122"/>
              </a:rPr>
              <a:t>适配</a:t>
            </a:r>
            <a:endParaRPr sz="77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646920" y="5641848"/>
            <a:ext cx="1883663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A2433"/>
                </a:solidFill>
                <a:latin typeface="微软雅黑" charset="-122"/>
              </a:rPr>
              <a:t>&lt;300度/月</a:t>
            </a:r>
            <a:endParaRPr sz="950" b="1">
              <a:solidFill>
                <a:srgbClr val="1A2433"/>
              </a:solidFill>
              <a:latin typeface="微软雅黑" charset="-122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9646920" y="5806440"/>
            <a:ext cx="1883663" cy="7315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B6776"/>
                </a:solidFill>
                <a:latin typeface="微软雅黑" charset="-122"/>
              </a:rPr>
              <a:t>阳台 / KA专供</a:t>
            </a:r>
            <a:endParaRPr sz="700" b="0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74" name="Rounded Rectangle 173"/>
          <p:cNvSpPr/>
          <p:nvPr/>
        </p:nvSpPr>
        <p:spPr>
          <a:xfrm>
            <a:off x="9637776" y="6099048"/>
            <a:ext cx="1901952" cy="246888"/>
          </a:xfrm>
          <a:prstGeom prst="roundRect">
            <a:avLst/>
          </a:prstGeom>
          <a:solidFill>
            <a:srgbClr val="FEF3E7"/>
          </a:solidFill>
          <a:ln w="8890">
            <a:solidFill>
              <a:srgbClr val="FEF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656064" y="6135624"/>
            <a:ext cx="1865376" cy="15544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1">
                <a:solidFill>
                  <a:srgbClr val="F08A24"/>
                </a:solidFill>
                <a:latin typeface="微软雅黑" charset="-122"/>
              </a:rPr>
              <a:t>低门槛普及入口</a:t>
            </a:r>
            <a:endParaRPr sz="820" b="1">
              <a:solidFill>
                <a:srgbClr val="F08A24"/>
              </a:solidFill>
              <a:latin typeface="微软雅黑" charset="-122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457200" y="6510528"/>
            <a:ext cx="10652760" cy="16459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8A96A3"/>
                </a:solidFill>
                <a:latin typeface="微软雅黑" charset="-122"/>
              </a:rPr>
              <a:t>倒排口径：按面积上限排序；日发电按3.5–4.5h等效日照、可用电量按90%DoD估算；备电时长按空调900W/冰箱150W/风扇75W典型负载测算</a:t>
            </a:r>
            <a:endParaRPr sz="780" b="0">
              <a:solidFill>
                <a:srgbClr val="8A96A3"/>
              </a:solidFill>
              <a:latin typeface="微软雅黑" charset="-122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457200" y="6665976"/>
            <a:ext cx="9966960" cy="13716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8A96A3"/>
                </a:solidFill>
                <a:latin typeface="微软雅黑" charset="-122"/>
              </a:rPr>
              <a:t>来源：越南户储产品容量包规格表V4.0锚定配置矩阵；安装面积按2.7㎡/块测算</a:t>
            </a:r>
            <a:endParaRPr sz="750" b="0">
              <a:solidFill>
                <a:srgbClr val="8A96A3"/>
              </a:solidFill>
              <a:latin typeface="微软雅黑" charset="-122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1018520" y="6647688"/>
            <a:ext cx="502920" cy="14630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0" b="0">
                <a:solidFill>
                  <a:srgbClr val="8A96A3"/>
                </a:solidFill>
                <a:latin typeface="微软雅黑" charset="-122"/>
              </a:rPr>
              <a:t>21</a:t>
            </a:r>
            <a:endParaRPr sz="820" b="0">
              <a:solidFill>
                <a:srgbClr val="8A96A3"/>
              </a:solidFill>
              <a:latin typeface="微软雅黑" charset="-122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585216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1–2台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225295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1865376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4–6台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2852928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3493008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90" name="TextBox 189"/>
          <p:cNvSpPr txBox="1"/>
          <p:nvPr/>
        </p:nvSpPr>
        <p:spPr>
          <a:xfrm>
            <a:off x="4133087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3–5台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5120640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94" name="TextBox 193"/>
          <p:cNvSpPr txBox="1"/>
          <p:nvPr/>
        </p:nvSpPr>
        <p:spPr>
          <a:xfrm>
            <a:off x="5760720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6400800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2–4台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7388352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短时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8028431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8668512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1–2台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9656064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9AA4AF"/>
                </a:solidFill>
                <a:latin typeface="微软雅黑" charset="-122"/>
              </a:rPr>
              <a:t>—</a:t>
            </a:r>
            <a:endParaRPr sz="640" b="1">
              <a:solidFill>
                <a:srgbClr val="9AA4AF"/>
              </a:solidFill>
              <a:latin typeface="微软雅黑" charset="-122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10296144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9AA4AF"/>
                </a:solidFill>
                <a:latin typeface="微软雅黑" charset="-122"/>
              </a:rPr>
              <a:t>—</a:t>
            </a:r>
            <a:endParaRPr sz="640" b="1">
              <a:solidFill>
                <a:srgbClr val="9AA4AF"/>
              </a:solidFill>
              <a:latin typeface="微软雅黑" charset="-122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10936224" y="4736592"/>
            <a:ext cx="603504" cy="128016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5B6776"/>
                </a:solidFill>
                <a:latin typeface="微软雅黑" charset="-122"/>
              </a:rPr>
              <a:t>1台</a:t>
            </a:r>
            <a:endParaRPr sz="640" b="1">
              <a:solidFill>
                <a:srgbClr val="5B6776"/>
              </a:solidFill>
              <a:latin typeface="微软雅黑" charset="-122"/>
            </a:endParaRPr>
          </a:p>
        </p:txBody>
      </p:sp>
      <p:pic>
        <p:nvPicPr>
          <p:cNvPr id="210" name="SVG_Appliance_ac_0" descr="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4517136"/>
            <a:ext cx="228600" cy="228600"/>
          </a:xfrm>
          <a:prstGeom prst="rect">
            <a:avLst/>
          </a:prstGeom>
        </p:spPr>
      </p:pic>
      <p:pic>
        <p:nvPicPr>
          <p:cNvPr id="211" name="SVG_Appliance_fridge_0" descr="f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748" y="4517136"/>
            <a:ext cx="228600" cy="228600"/>
          </a:xfrm>
          <a:prstGeom prst="rect">
            <a:avLst/>
          </a:prstGeom>
        </p:spPr>
      </p:pic>
      <p:pic>
        <p:nvPicPr>
          <p:cNvPr id="212" name="SVG_Appliance_fan_0" descr="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4517136"/>
            <a:ext cx="228600" cy="228600"/>
          </a:xfrm>
          <a:prstGeom prst="rect">
            <a:avLst/>
          </a:prstGeom>
        </p:spPr>
      </p:pic>
      <p:pic>
        <p:nvPicPr>
          <p:cNvPr id="213" name="SVG_Appliance_ac_1" descr="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380" y="4517136"/>
            <a:ext cx="228600" cy="228600"/>
          </a:xfrm>
          <a:prstGeom prst="rect">
            <a:avLst/>
          </a:prstGeom>
        </p:spPr>
      </p:pic>
      <p:pic>
        <p:nvPicPr>
          <p:cNvPr id="214" name="SVG_Appliance_fridge_1" descr="f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4517136"/>
            <a:ext cx="228600" cy="228600"/>
          </a:xfrm>
          <a:prstGeom prst="rect">
            <a:avLst/>
          </a:prstGeom>
        </p:spPr>
      </p:pic>
      <p:pic>
        <p:nvPicPr>
          <p:cNvPr id="215" name="SVG_Appliance_fan_1" descr="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4517136"/>
            <a:ext cx="228600" cy="228600"/>
          </a:xfrm>
          <a:prstGeom prst="rect">
            <a:avLst/>
          </a:prstGeom>
        </p:spPr>
      </p:pic>
      <p:pic>
        <p:nvPicPr>
          <p:cNvPr id="216" name="SVG_Appliance_ac_2" descr="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8092" y="4517136"/>
            <a:ext cx="228600" cy="228600"/>
          </a:xfrm>
          <a:prstGeom prst="rect">
            <a:avLst/>
          </a:prstGeom>
        </p:spPr>
      </p:pic>
      <p:pic>
        <p:nvPicPr>
          <p:cNvPr id="217" name="SVG_Appliance_fridge_2" descr="f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172" y="4517136"/>
            <a:ext cx="228600" cy="228600"/>
          </a:xfrm>
          <a:prstGeom prst="rect">
            <a:avLst/>
          </a:prstGeom>
        </p:spPr>
      </p:pic>
      <p:pic>
        <p:nvPicPr>
          <p:cNvPr id="218" name="SVG_Appliance_fan_2" descr="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4517136"/>
            <a:ext cx="228600" cy="228600"/>
          </a:xfrm>
          <a:prstGeom prst="rect">
            <a:avLst/>
          </a:prstGeom>
        </p:spPr>
      </p:pic>
      <p:pic>
        <p:nvPicPr>
          <p:cNvPr id="219" name="SVG_Appliance_ac_3" descr="a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5804" y="4517136"/>
            <a:ext cx="228600" cy="228600"/>
          </a:xfrm>
          <a:prstGeom prst="rect">
            <a:avLst/>
          </a:prstGeom>
        </p:spPr>
      </p:pic>
      <p:pic>
        <p:nvPicPr>
          <p:cNvPr id="220" name="SVG_Appliance_fridge_3" descr="f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883" y="4517136"/>
            <a:ext cx="228600" cy="228600"/>
          </a:xfrm>
          <a:prstGeom prst="rect">
            <a:avLst/>
          </a:prstGeom>
        </p:spPr>
      </p:pic>
      <p:pic>
        <p:nvPicPr>
          <p:cNvPr id="221" name="SVG_Appliance_fan_3" descr="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5964" y="4517136"/>
            <a:ext cx="228600" cy="228600"/>
          </a:xfrm>
          <a:prstGeom prst="rect">
            <a:avLst/>
          </a:prstGeom>
        </p:spPr>
      </p:pic>
      <p:pic>
        <p:nvPicPr>
          <p:cNvPr id="222" name="SVG_Appliance_ac_4" descr="ac_fa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3516" y="4517136"/>
            <a:ext cx="228600" cy="228600"/>
          </a:xfrm>
          <a:prstGeom prst="rect">
            <a:avLst/>
          </a:prstGeom>
        </p:spPr>
      </p:pic>
      <p:pic>
        <p:nvPicPr>
          <p:cNvPr id="223" name="SVG_Appliance_fridge_4" descr="fridge_fa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3596" y="4517136"/>
            <a:ext cx="228600" cy="228600"/>
          </a:xfrm>
          <a:prstGeom prst="rect">
            <a:avLst/>
          </a:prstGeom>
        </p:spPr>
      </p:pic>
      <p:pic>
        <p:nvPicPr>
          <p:cNvPr id="224" name="SVG_Appliance_fan_4" descr="f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3676" y="4517136"/>
            <a:ext cx="228600" cy="228600"/>
          </a:xfrm>
          <a:prstGeom prst="rect">
            <a:avLst/>
          </a:prstGeom>
        </p:spPr>
      </p:pic>
      <p:sp>
        <p:nvSpPr>
          <p:cNvPr id="179" name="矩形 178"/>
          <p:cNvSpPr/>
          <p:nvPr/>
        </p:nvSpPr>
        <p:spPr>
          <a:xfrm>
            <a:off x="374650" y="4299585"/>
            <a:ext cx="11392535" cy="1261745"/>
          </a:xfrm>
          <a:prstGeom prst="rect">
            <a:avLst/>
          </a:prstGeom>
          <a:noFill/>
          <a:ln w="571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常州实验台</a:t>
            </a:r>
            <a:r>
              <a:rPr lang="en-US" alt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-</a:t>
            </a: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冰块室内降温实验：实测平台与方案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常州 · 宿舍单间（两张床+小卫生间）· 空调升温至约30℃后停机 · 温湿度自动记录 5s/10s 采样 · 室外 22.4~23.9℃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14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19072"/>
            <a:ext cx="3438144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实验目的</a:t>
            </a:r>
            <a:endParaRPr sz="14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2029968"/>
            <a:ext cx="3438144" cy="1896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验证「冰蓄冷」思路在小体量居住空间的降温可行性：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小冰柜（约100W）将 1.5L 桶装水冻实成冰瓶，置于室内自然融化吸热，与无冰自然降温工况对照。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模拟场景：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越南/巴基斯坦等无空调小卧室。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3657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187952"/>
            <a:ext cx="3438144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实验方法</a:t>
            </a:r>
            <a:endParaRPr sz="14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4498848"/>
            <a:ext cx="3438144" cy="160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① 空调将室温升至 29.3~29.8℃ 后停机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② 放入冰瓶（实验组）/ 不放（对照组）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③ 自动记录仪连续采集温湿度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④ 三组实验分日进行，数据完整无缺失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endParaRPr sz="2400"/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样本量：1575 / 1549 / 1791 条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663440" y="1737360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05840"/>
                <a:gridCol w="960120"/>
                <a:gridCol w="96012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组别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冰块质量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记录时长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初始室温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结束室温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总温降</a:t>
                      </a:r>
                      <a:endParaRPr sz="10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对照组（自然降温）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0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2.21 h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29.4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27.9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1.5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实验组 A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9.815 kg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2.17 h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29.8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27.3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2.5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实验组 B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12.7 kg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5.00 h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29.3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27.1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2.2 ℃</a:t>
                      </a:r>
                      <a:endParaRPr sz="10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63440" y="3749039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数据与手写台账交叉校核一致；全量数据已归档（CSV，共 4915 条）</a:t>
            </a:r>
            <a:endParaRPr sz="10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63440" y="4114800"/>
            <a:ext cx="6949440" cy="210312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206240"/>
            <a:ext cx="658368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关键结论速览</a:t>
            </a:r>
            <a:endParaRPr sz="14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46320" y="4572000"/>
            <a:ext cx="6583680" cy="1328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■ 前 1~2h 降温速率提升约 60%（4.23 vs 2.62 ℃/h）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■ 融化期稳态额外温降约 0.7~1.1 ℃（干球）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■ 计入湿度效应，体感温度改善达 1.3~2.3 ℃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■ 冰量 9.8→12.7 kg：主要买时长（2h → 5h+），其次买幅度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■ 附带除湿：露点 22.4℃ → 19.5℃，闷热体感明显缓解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数据来源：冰蓄冷试验台实测记录（自然降温 / 冰块降温 9.815KG / 冰块降温 12.7KG，2025 年 9 月 · 常州）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40平</a:t>
            </a:r>
            <a:r>
              <a:rPr lang="en-US" alt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-</a:t>
            </a: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实验结果：降温速率提升约 60%，稳态</a:t>
            </a:r>
            <a:r>
              <a:rPr 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自然</a:t>
            </a: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额外温降约 1℃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三组工况室温曲线对比 · 前快后缓的指数衰减形态 · 冰块组全程处于对照组下方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15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7" name="Picture 6" descr="图1_温度曲线对比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6766560" cy="4059936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80960" y="1737360"/>
          <a:ext cx="40233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31520"/>
                <a:gridCol w="777240"/>
                <a:gridCol w="7772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指标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对照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9.8kg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12.7kg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前30min速率(℃/h)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2.62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4.23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3.44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前60min速率(℃/h)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1.41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2.41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1.91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额外温降·末值(℃)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0.7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0.8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净额外降温*(℃)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1.1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0.8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湿度变化(%RH)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+5.7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+3.9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−0.3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40233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* 扣除各组初始温差后的公平对比口径</a:t>
            </a:r>
            <a:endParaRPr sz="8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80960" y="438912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0688" y="4462272"/>
            <a:ext cx="38039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曲线解读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90688" y="4773168"/>
            <a:ext cx="3803904" cy="121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前 1h：冰块组速率持续高于对照组 0.5~1.5 ℃/h；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1.5h 后：各组趋缓，冰块组维持约 0.7~1℃ 的稳态温差带——冰的冷量释放与围护结构渗热基本平衡。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数据来源：冰蓄冷试验台实测 · 图1/指标汇总.csv · 传感器分辨率 0.1℃，速率经 30min 滑动平均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融冰速率反演：冷量前快后缓，12.7kg 组 5h 余冰约 5kg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双时间常数房间热模型（τ快≈6min / τ慢≈48h，RMSE 0.056℃）生成无冰基线 → 能量平衡反演融冰过程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16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7" name="Picture 6" descr="图6b_实测vs无冰基线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5577840" cy="2359855"/>
          </a:xfrm>
          <a:prstGeom prst="rect">
            <a:avLst/>
          </a:prstGeom>
        </p:spPr>
      </p:pic>
      <p:pic>
        <p:nvPicPr>
          <p:cNvPr id="8" name="Picture 7" descr="图8_融冰速率与累计融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577840" cy="2359855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343400"/>
          <a:ext cx="55778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28800"/>
                <a:gridCol w="1828800"/>
              </a:tblGrid>
              <a:tr h="32004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反演指标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9.815 kg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12.7 kg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平均制冷功率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≈560 W (2.2h)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≈190 W (5h均值)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前1h 融冰速率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5~15 kg/h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3~8 kg/h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累计融化比例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100%（2.2h 融完）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5h 约 61%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实验结束余冰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≈0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3"/>
                          </a:solidFill>
                          <a:latin typeface="微软雅黑" charset="-122"/>
                          <a:ea typeface="微软雅黑" charset="-122"/>
                        </a:rPr>
                        <a:t>≈5 kg</a:t>
                      </a:r>
                      <a:endParaRPr sz="950" b="0">
                        <a:solidFill>
                          <a:srgbClr val="222A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0" y="4343400"/>
            <a:ext cx="55778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4416552"/>
            <a:ext cx="53583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结论与产品含义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0528" y="4727448"/>
            <a:ext cx="5358383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① 冷量释放前快后缓：前 1h 贡献 50~70% 冷量 → 加风扇强制对流是提升前期速率的关键改进；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② 12.7kg 组 5h 仍有余冰 ≈5kg → 「加冰量主要买时长」得到定量验证；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③ 约 10kg 冰 ≈ 一台 300~560W「免电空调」（制冰仅 100W 小冰柜，夜间低谷电蓄冷）。</a:t>
            </a:r>
            <a:endParaRPr sz="14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方法说明：以 9.815kg 组全融化标定房间有效热容（含围护结构蓄热与冷量散失），同参数外推 12.7kg 组；标定假设 ±10% 不改变结论方向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供应链划分：四层结构 × 双产地——整机买中国、罐子走本地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每层均带参考数值 · P9~11 已定模块级采购清单与本页互洽（①~⑩ 编号一致）· 组件可产地化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17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70408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4206240"/>
                <a:gridCol w="1600200"/>
              </a:tblGrid>
              <a:tr h="77724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层级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环节与代表厂商 · 参考数值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格局与采购策略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上游·核心部件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压缩机：GMCC 美芝 9,500 万台/年 ≈ 全球转子压缩机（3.12 亿台）3 成 ·凌达（格力）·海立；阀件 三花·盾安；电机 卧龙·大洋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高度垄断、随整机自带，不单独采购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中游·整机①
制冷主机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特域·同飞·东露阳·凯德利（本土前五）；已建联 铭迪/金抡：MD20PV 储冷 19 kWh · ¥8,620（质保 12 月 · 交期 15 工作日）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 匹级 ≈¥1,000，充分竞争、可谈账期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中游·整机②
送冷末端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盘管/内机：白牌 ¥345 起（麦斯顿）vs 品牌 美的·格力·天加 ¥800~2,500；P9 口径 ¥1,000~1,500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3,000 元 BOM 走工程低价带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中游·整机③
水罐·电源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罐：304/440L 保温 ¥800~1,500 + 越南大新·山河；微逆主流可见 禾迈/昱能/德业（Enphase 主导高端）；组件 ¥0.75~0.90/W（2026-10 指导价）· 越南产能 ≈40 GW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全部现货化，组件可产地化避关税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909560" y="1691640"/>
            <a:ext cx="379476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76479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集成层（自建 · 唯一壁垒）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19288" y="2075688"/>
            <a:ext cx="35753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盘管穿罐+闭式回路+直驱电控；专利交底 V2.0 已布局；常州实测：C_eff≈5,000 kJ/℃ · 体感改善 1.3~2.3℃ · 除湿露点 22.4→19.5℃</a:t>
            </a:r>
            <a:endParaRPr sz="9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909560" y="3154680"/>
            <a:ext cx="3794760" cy="117043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322783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渠道层（绑定即壁垒）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19288" y="3538728"/>
            <a:ext cx="3575304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大新 ≈3 万零售网点 · 水电工施工队 · 光伏安装商 · EMC 零首付；SAM 200~450 万户 · 存量光伏户 10.3 万套</a:t>
            </a:r>
            <a:endParaRPr sz="9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909560" y="4462272"/>
            <a:ext cx="379476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9288" y="4535424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采购三分法（成本与关税平衡）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19288" y="4846320"/>
            <a:ext cx="357530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① 中国出厂：主机/微逆/盘管（小额高值）</a:t>
            </a:r>
            <a:endParaRPr sz="9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② 越南本地：罐体+PU 喷涂+安装（重货售后）</a:t>
            </a:r>
            <a:endParaRPr sz="9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③ 产地化选项：组件越南产（≈40 GW 产能）</a:t>
            </a:r>
            <a:endParaRPr sz="9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所以呢：四层每环均有 ≥3 家充分竞争者、无卡脖子环节——要自建的只有「盘管穿罐+闭式回路+直驱电控」，数值锚点即 P19 二询压价清单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数据来源：产业在线/佰世越 2025 · AVI DATA 越南 2025 · AWE2026（GMCC 9,500 万台）· 头豹 · 财新/CSIS 越南光伏产能 · 冰蓄冷项目倒排测算（铭迪口径→金抡户用，2026-10）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厂商定位：不进整机红海，卡位「蓄冷功能部件 + 系统集成」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越南 320 万台/年 · 大金 28% 领跑 · 全球销量前五中国占三——整机无立足点，集成才有定价权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18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9164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834640"/>
                <a:gridCol w="4663440"/>
                <a:gridCol w="251460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代表厂商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与我们的关系</a:t>
                      </a:r>
                      <a:endParaRPr sz="9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高端塔尖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大金 · 松下 · LG · 三菱电机 · 三星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 320 万台/年：大金 28% · 松下 13% · LG 11%；全球：大金 3,198 万台（12.3%）；越南本地产能：大金兴安省 100 万台/年 · LG 海防 $15 亿 · 松下/三星太原省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竞品天花板：不正面竞争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规模主流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美的 · 格力 · 海尔 · 奥克斯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全球销量：美的 7,183 万台（27.5%）第一 · 格力 4,571 万（17.5%）· 海尔 1,950 万（7.5%）· 奥克斯 1,870 万（7.1%）；美的/海尔在越设厂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供应链靠山：GMCC/凌达压缩机随整机体系外溢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工程性价比 ★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盘管 天加·国祥·麦斯顿/顺德中山 OEM；冷水机 特域·同飞；已建联 铭迪·金抡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工程低价带 ¥345 起；1 匹冷水机 ≈¥1,000；MD20PV ¥8,620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★ 3,000 元 BOM 与户用倒排主采购带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二手拆机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回收商 · 淘宝二手压缩机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¥150~800/台 · 存量巨大、无质保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MVP 试验件来源</a:t>
                      </a:r>
                      <a:endParaRPr sz="90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4956048"/>
            <a:ext cx="5440680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5029200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我方卡位：蓄冷功能部件 + 系统集成商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9808" y="5340096"/>
            <a:ext cx="5221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对标加装电池 10 kWh ≈¥8,000·寿命 5~8 年——水介质蓄冷寿命 20 年+、边际成本近零；借大新网点+光伏安装商触达 200~450 万户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4956048"/>
            <a:ext cx="5440680" cy="896112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5029200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双口径锚定（与倒排表一致）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3368" y="5340096"/>
            <a:ext cx="522122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试验 MVP ≈¥3,000 BOM（内机+水罐+冷水机+微逆光伏）；户用 MD20PV ¥8,620 ≈ 3,336 万盾 → 落在 3,000~4,000 万盾增量约束内，主推 @15㎡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所以呢：用别人的红海供应链，打自己的蓝海增量部件——整机厂是供应商不是对手，集成层才是护城河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数据来源：AVI DATA/GfK 越南 2025（320 万台）· 全球销量统计（东方财富 2025）· 中国家电网/越南人民报（在越工厂）· 冰蓄冷项目倒排测算（2026-10）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货源逐项锁定：每个模块 ≥2 家候选 + 参考数值（与 P10 编号对齐）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在 P10「供货归属」之上补齐具体厂商与数值锚点 · 全部现货或 ≤20 天交期 · 右列压价空间即二询目标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19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017520"/>
                <a:gridCol w="425196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模块（P10 编号）</a:t>
                      </a:r>
                      <a:endParaRPr sz="8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厂商候选（梯队）</a:t>
                      </a:r>
                      <a:endParaRPr sz="8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参考数值（2026-10 口径）</a:t>
                      </a:r>
                      <a:endParaRPr sz="8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货源渠道</a:t>
                      </a:r>
                      <a:endParaRPr sz="8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①② 冰蓄冷核心单元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金抡（铭迪口径，已建联）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¥8,620 · 440L · 储冷 19 kWh · 质保 12 月 · 交期 15 工作日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工厂直采·广州（不含税运）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（散件备选）制冷主机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特域 S&amp;A·同飞·东露阳；压缩机 美芝/凌达/海立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 匹机 ≈¥1,000；1.5 匹变频压缩机 ¥400~700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淘宝/1688 现货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④ 风机盘管末端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白牌（麦斯顿等）→ 美的/格力/天加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白牌 ¥345~500/台；品牌 ¥800~2,500；P9 口径 ¥1,000~1,500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1688/暖通市场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水罐（整机/越南路线）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德州/佛山 OEM；越南 大新·山河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304·440L 保温 ¥800~1,500；1000L 喷 PU ¥490~650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1688/越南本地施工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③⑩ 水泵·管路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五金通用件（屏蔽泵/多级泵）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水泵 ¥300~1,000（2~2.5 m³/h · 45 kPa）；DN25+乙二醇 ¥400~800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五金/暖通现货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⑤⑥⑨ 电控小件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MPPT 60A · 传感器 · 接水盘（通用件）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¥550~900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淘宝现货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⑦ 光伏板组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天合（自有渠道）/ 晶科；隆基·天合越南产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550~625W ¥0.75~0.90/W（天合 9 月指导价 0.75~0.93）；2×625W 含支架电缆 ¥1,000~2,000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自有渠道/产地化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⑧ 夜间辅助电源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LiFePO4 通用（500W / 1.2~2 kWh）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¥1,200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电商/自有渠道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微逆（AC 路线）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通用款 SMI/GTB → 德业；主流可见 禾迈/昱能/德业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800W ¥330~700（德业 ¥700 · SMI-800W ¥330）；Enphase 主导高端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淘宝/代理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— 现场安装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当地空调售后团队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另计（参考 P9 口径）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本地服务网络</a:t>
                      </a:r>
                      <a:endParaRPr sz="8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704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二询压价空间：盘管白牌 vs 品牌 −40%~60% · 微逆通用款 vs 品牌 −50% · 组件产地化省关税运费 → 整套可压 ¥800~1,500（≈整机口径 5~8%）</a:t>
            </a:r>
            <a:endParaRPr sz="10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6199632"/>
            <a:ext cx="11064240" cy="29260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254496"/>
            <a:ext cx="10698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所以呢：P10 的「外采/自筹备」到这页全部落到具体厂商与数值——MVP 外采整机抢时间，放量期按此表二询切散件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数据来源：淘宝/1688 现货询价 2026-10 · 金抡报价（2026-09-11 出厂价）· 天合 9 月分布式指导价 · 冰蓄冷会议纪要（2026-10-10）· 本报告 P9~P11 口径互洽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M1｜冰蓄冷核心单元：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储冷 19 kWh · 440 L · 整机外采——MVP 期</a:t>
            </a:r>
            <a:r>
              <a:rPr lang="en-US"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-</a:t>
            </a:r>
            <a:r>
              <a:rPr lang="zh-CN" altLang="en-US"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参考</a:t>
            </a:r>
            <a:r>
              <a:rPr lang="en-US" altLang="zh-CN"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 </a:t>
            </a: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金抡 MD20PV（已</a:t>
            </a:r>
            <a:r>
              <a:rPr lang="zh-CN" sz="125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沟通</a:t>
            </a:r>
            <a:r>
              <a:rPr sz="1250" b="1">
                <a:solidFill>
                  <a:srgbClr val="003A70"/>
                </a:solidFill>
                <a:latin typeface="微软雅黑" charset="-122"/>
                <a:ea typeface="微软雅黑" charset="-122"/>
                <a:sym typeface="+mn-ea"/>
              </a:rPr>
              <a:t>）</a:t>
            </a:r>
            <a:endParaRPr sz="125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20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罐容 / 储冷量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440 L / 19 kWh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单桶覆盖 15 ㎡ 整晚（倒排公式口径）；440L 全冻 ≈41 kWh 潜热，19 kWh ≈46% 结冰率，标称诚实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内胆材质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304 不锈钢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食品级接触面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保温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40 mm 发泡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待机冷损待越南实测校准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换热形式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内置盘管 · 闭式回路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禁焊 · 顶盖穿壁机械接头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供电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光伏直驱 · 5V 控制供电 + 24V 动力直驱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预留 1~2 kW 板组功率配额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双模式工况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白天蓄冷（制冷至 2~8℃）/ 夜间供冷（泵送盘管）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供回水循环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占地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≈5 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10~50 ㎡ 小型场景主推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参考集成</a:t>
                      </a:r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首选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金抡（广州，已建联）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¥8,620 · 质保 12 月 · 交期 15 工作日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升级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铭迪 MD30PV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28 kWh · ¥12,620；价差 ¥4,000 待确认差异化：内置盘管/热泵化冰/电控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散件备选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自装路线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见配置单 M2 · 硬成本 ¥1,650~3,000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¥8,620 工厂出货（2026-09-11 报价）：不含税/运费/光伏板/泵/乙二醇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倒排结论③：必须光伏直驱——市电制冰 10.4 元/天 &gt; 直接开空调 8.1 元/天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所以呢：M1 到货即锁六成成本、自带 12 个月质保——MVP 期不二话外采整机抢时间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数据来源：冰蓄冷报价 to July（金抡，2026-09-11）· 冰蓄冷项目会议纪要（2026-10-10）· 倒排测算表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M2｜制冷主机·散件路线（放量期备选）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压缩机+罐+外壳+电控四散件自装——硬成本仅为整机的 1/3（P11 口径，溢价 2.9~5.2×）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21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压缩机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1.5 匹品牌变频 · R32（定档）</a:t>
                      </a:r>
                      <a:r>
                        <a:rPr lang="en-US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——</a:t>
                      </a:r>
                      <a:r>
                        <a:rPr lang="zh-CN" altLang="en-US" sz="950" b="1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变频压缩机厂商</a:t>
                      </a:r>
                      <a:endParaRPr lang="zh-CN" altLang="en-US" sz="950" b="1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美芝/凌达/松下体系；越南高温高湿取 R32：效率/充注量/环保口径一致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换热水罐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304 · 400~440 L · 40 mm 发泡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内置换热盘管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外壳/机架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钣金喷涂 + 底座服务舱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制冷模块与水泵一体集成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电控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温度传感器 · 控制器 · 冷凝水接水盘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散件硬成本小计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≈¥1,650~3,000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对标整机 ¥8,620 → 溢价 2.9~5.2×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全新散件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美芝 GMCC · 凌达 · 海立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淘宝/1688 实测 ¥280~400，渠道价 ¥400~700 留余量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整机替代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特域 S&amp;A · 同飞 · 东露阳 · 凯德利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 匹级 ≈¥1,000（本土前五）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二手拆机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回收商 / 淘宝二手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¥150~800 · 无质保（仅 MVP 试验）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散件合计 ≈¥1,650~3,000 + 装配测试另计；整机溢价买集成设计+质保+即插即用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放量期切散件/二三线厂定制；开模前须明确海外销量预期（P11 结论）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所以呢：MVP 外采、放量散件——切换不改系统架构，公共件两条路线通用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数据来源：淘宝/1688 现货询价（2026-10）· 本报告 P11 核心成本拆解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M3｜风机盘管末端（送冷）</a:t>
            </a:r>
            <a:r>
              <a:rPr 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水空调</a:t>
            </a:r>
            <a:r>
              <a:rPr lang="zh-CN"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厂家</a:t>
            </a:r>
            <a:endParaRPr lang="zh-CN"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仅水路空调可对接——越南存量氟利昂机不可复用（P9 口径 ④，¥1,000~1,500）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22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换热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铜管翅片 · 换热面积 1.5 ㎡（低温工况标定）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3/9℃ 大温差工况换热量较标称低 15~20%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风机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调速风机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夜间卧室噪声敏感，选静音档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水路接口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DN25 · 不冻液回路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与 M7 管路同口径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数量口径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15 ㎡×1 台 / 30 ㎡×2 台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P9 系统口径 ¥1,000~1,500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工程白牌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麦斯顿等（1688）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¥345~500/台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国产品牌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美的 · 格力 · 天加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¥800~2,500/台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外资工程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开利 · 约克 · 麦克维尔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高端工程带，本方案不必要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白牌 ¥345~500 vs 品牌 ¥800~2,500 → 二询压价空间 −40%~60%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盘管规格与 P10 概念图 ④ 对齐；选 220V 调速款即可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所以呢：M3 是压价弹性最大的模块——白牌先跑通，品牌做背书备选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数据来源：1688/淘宝询价（2026-10）· CNPP 风机盘管榜单 · P9/P11 口径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M4｜储冷水罐（蓄冷/生活水）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盘管隔离 + 罐体保温为必需项，直冷路线已被否决（P8 裁定 C1/C4）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23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材质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304 不锈钢 / 食品级 PE（越南塑料罐）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户用单罐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400~440 L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整机自带或德州/佛山 OEM · 适用 1 户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多户共用罐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1000~2000 L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 大新/山河 · 适用 2~5 户（P8 路线 A）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保温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40 mm 发泡 / 喷 PU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暴晒环境罐内可达 35~45℃，保温必需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盘管接口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顶盖穿壁机械接头 · 禁焊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闭式回路 · 不污染生活水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越南改造费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1000 L 罐喷 PU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¥490~650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中国 OEM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山东德州 / 佛山产业带（1688）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100L 压力罐 ¥330 · 200L ¥350~468 · 400~440L ¥800~1,500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越南本地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大新 Tân Á · 山河 Sơn Hà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≈3 万零售网点 · 1000~2000L 多户罐 + 喷 PU ¥490~650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整机自带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金抡 MD20PV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含于 ¥8,620，无需另购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散件 304/440L 保温罐 ¥800~1,500；越南 1000L 喷 PU 改造 ¥490~650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「只借冷量、不动水罐」是路线 A 前提——两张门票：保底 ≥500L + 停水联动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所以呢：M4 在中国是现货、在越南是渠道——罐子永远本地买，不要跨国运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数据来源：1688/淘宝询价（2026-10）· P8 越南调研（裁定 C1/C4）· P11 口径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M5｜光伏板组（1~2 kW 配额）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白天光伏直驱制冰是经济性唯一前提——自用溢价 ≈3.6×（P9 口径 ⑦）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24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组件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单晶 550~6</a:t>
                      </a:r>
                      <a:r>
                        <a:rPr lang="en-US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</a:t>
                      </a:r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5 W（TOPCon）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天合 6</a:t>
                      </a:r>
                      <a:r>
                        <a:rPr lang="en-US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4</a:t>
                      </a:r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5W×2（P10 概念图 ⑦）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配额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1~2 kW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设计阶段预留板组功率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辅件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含支架电缆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P10 口径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单价锚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¥0.75~0.90/W（2026-10 口径）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3 月分布式现货 ≈0.8 元/W；天合 9 月指导价 0.75~0.93（630W+ TOPCon 双面 0.83~0.87）；较 2024 年底 0.6 元 +33%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电价锚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自用 0.9 元/kWh vs 余电上网 0.22 元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溢价 3.6×（越南 3,240~3,737 盾口径）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首选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天合（自有渠道）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2×625W 含支架电缆 ¥1,000~2,000（≈0.8 元/W 口径仍成立）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市场现货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贴牌</a:t>
                      </a:r>
                      <a:r>
                        <a:rPr lang="en-US" altLang="zh-CN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/</a:t>
                      </a:r>
                      <a:r>
                        <a:rPr lang="zh-CN" altLang="en-US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双</a:t>
                      </a:r>
                      <a:r>
                        <a:rPr lang="en-US" altLang="zh-CN"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logo</a:t>
                      </a:r>
                      <a:endParaRPr lang="zh-CN" altLang="en-US"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分布式现货 0.75~0.93 元/W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产地化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天合 · 晶科越南产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越南组件产能 ≈40 GW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倒排表 2.5 kW=¥2,000 系 0.65 元/W 旧口径 → 按 0.8 元/W 应上调至 ≈¥2,300~2,600（+15~30%）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美国关税冲击下东南亚组件产能转向本地市场——越南采购价优；现货波动大，锁价走季度框架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所以呢：M5 自有天合渠道就是成本优势，产地化还能再省关税运费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数据来源：天合 9 月分布式指导价（0.75~0.93 元/W）· 行业现货 2026-03 ≈0.8 元/W · P10 口径 · 财新/CSIS 越南光伏产能 · 倒排表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M6｜供电配套（微逆/储逆 + 夜间辅助电源）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负载 ≈0.8~1.0 kW（压缩机 735W + 风机 + 泵）——先定架构再买机：并网微逆 / 储逆一体 / 直流母线三选一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25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微型逆变器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800~1000 W · AC 并网路线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并网型、无充放电通道，输出直送电网侧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充放电管理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AC 耦合储能逆变 / 微型储逆一体（德业 SUN-M 系列）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配 LiFePO4 必需，否则电池无法接入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夜间电源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LiFePO4 500 W / 1.2~2 kWh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带水泵 5W + 风机盘管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负载合计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≈0.8~1.0 kW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1 匹压缩机 735W + 风机 30~80W + 泵 30~60W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发电侧匹配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板组 ≈0.95 kWp → 微逆 800~1000 W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档位对得上（P19 校核）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通用款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SMI-800W · GTB（淘宝）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¥330~585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品牌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德业 800W（Mocowini ¥799）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¥700~799；带电池选德业 SUN-M 储逆一体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主流可见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禾迈 · 昱能 · 德业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Enphase 主导高端；越南本地以韩系与二手为主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配储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LiFePO4 通用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¥1,200（P10 口径）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微逆通用款 vs 品牌 −50%；配储 ¥1,200；储逆一体价待询价（德业 SUN-M 系列）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微逆=并网型、无充放电通道；带电池必须 AC 耦合或储逆一体，或改直流母线（MPPT+蓄电池）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所以呢：M6 先定架构再买机——并网微逆/储逆一体/直流母线三选一，电池不是插上就能用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数据来源：淘宝询价（2026-10）· 微逆格局：Enphase 主导高端、禾迈/昱能/德业主流可见（渠道调研 2026-10）· P10/P19 口径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M7｜循环水泵 + 管网辅材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完全通用件——≥3 家比价即可（P10 口径 ③⑩，金抡报价不含泵/乙二醇）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26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循环水泵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屏蔽泵/多级泵 · 流量 2~2.5 m³/h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水阻 45 kPa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管路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DN25 不冻液管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与 M3 盘管接口同口径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工质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防腐乙二醇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浓度按当地最低温选型，越南热区可低浓度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五金现货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 / 暖通市场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水泵 ¥300~1,000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管路辅材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五金现货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DN25 管 + 乙二醇 ¥400~800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比价策略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≥3 家现货商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无定制、无交期风险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合计 ¥700~1,800（P10 水项合计 ¥1,000~1,800 口径）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乙二醇/水泵不在金抡报价内（2026-09-11 报价边界），须自行外采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所以呢：M7 没有供应链风险，只有比价动作——到货周期 ≈0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数据来源：淘宝/五金市场询价（2026-10）· 金抡报价边界 · P10/P11 口径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457200" cy="91440"/>
          </a:xfrm>
          <a:prstGeom prst="rect">
            <a:avLst/>
          </a:prstGeom>
          <a:solidFill>
            <a:srgbClr val="2E7F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配置单 M8｜电控小件 + 现场安装</a:t>
            </a:r>
            <a:endParaRPr sz="25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双模式切换（白天蓄冷/夜间供冷）为自研集成层——安装走越南本地售后（P10 口径 ⑤⑥⑨）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64240" y="822960"/>
            <a:ext cx="822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27 / 27</a:t>
            </a:r>
            <a:endParaRPr sz="125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72768"/>
          <a:ext cx="110642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394960"/>
                <a:gridCol w="42062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参数项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规格值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备注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MPPT 控制器 60A（条件件）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仅普通逆变器方案需要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微逆/储逆一体自带 MPPT 则免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温度传感器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罐内 / 回水 / 室内多点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配合反演法标定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冷凝水接水盘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—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除湿凝水（实测露点 22.4→19.5℃）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联动逻辑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停水联动停机 · 保底 ≥500 L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P8 两张门票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现场安装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上门安装调试 + 售后维修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当地空调售后团队承接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41648"/>
          <a:ext cx="69494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651760"/>
                <a:gridCol w="34290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梯队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推荐供应商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参考数值</a:t>
                      </a:r>
                      <a:endParaRPr sz="95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003A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电控小件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淘宝现货（MPPT/传感器/接水盘）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¥550~900（P10 口径）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安装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越南当地空调售后 / 水电工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另计（P9 口径）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渠道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大新网点施工队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F2933"/>
                          </a:solidFill>
                          <a:latin typeface="微软雅黑" charset="-122"/>
                          <a:ea typeface="微软雅黑" charset="-122"/>
                        </a:rPr>
                        <a:t>绑定即壁垒（P17 渠道层）</a:t>
                      </a:r>
                      <a:endParaRPr sz="950" b="0">
                        <a:solidFill>
                          <a:srgbClr val="1F2933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18120" y="4041648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8" y="4114800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参考价与采购口径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27848" y="4425696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小件 ¥550~900；安装费另计，按当地售后行情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818120" y="4974336"/>
            <a:ext cx="3886200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7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5047488"/>
            <a:ext cx="3666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A70"/>
                </a:solidFill>
                <a:latin typeface="微软雅黑" charset="-122"/>
                <a:ea typeface="微软雅黑" charset="-122"/>
              </a:rPr>
              <a:t>选型要点</a:t>
            </a:r>
            <a:endParaRPr sz="1200" b="1">
              <a:solidFill>
                <a:srgbClr val="003A70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27848" y="5358384"/>
            <a:ext cx="3666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电控联动逻辑（双模式 + 停水保护）是自研集成层，不外包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0080" y="5989320"/>
            <a:ext cx="11064240" cy="384048"/>
          </a:xfrm>
          <a:prstGeom prst="rect">
            <a:avLst/>
          </a:prstGeom>
          <a:solidFill>
            <a:srgbClr val="003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044183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所以呢：M8 的钱花在别人身上（安装），壁垒留在自己身上（电控逻辑）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1064240" cy="914"/>
          </a:xfrm>
          <a:prstGeom prst="rect">
            <a:avLst/>
          </a:prstGeom>
          <a:noFill/>
          <a:ln w="9525">
            <a:solidFill>
              <a:srgbClr val="C9D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A6572"/>
                </a:solidFill>
                <a:latin typeface="微软雅黑" charset="-122"/>
                <a:ea typeface="微软雅黑" charset="-122"/>
              </a:rPr>
              <a:t>数据来源：P10/P17 口径 · 常州实验（露点/体感实测）· 冰蓄冷会议纪要（2026-10-10）</a:t>
            </a:r>
            <a:endParaRPr sz="900" b="0">
              <a:solidFill>
                <a:srgbClr val="5A657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2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3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4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5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6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7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8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9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0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1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2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3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4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5.xml><?xml version="1.0" encoding="utf-8"?>
<p:tagLst xmlns:p="http://schemas.openxmlformats.org/presentationml/2006/main">
  <p:tag name="KSO_WM_DIAGRAM_VIRTUALLY_FRAME" val="{&quot;height&quot;:278.64,&quot;left&quot;:50.4,&quot;top&quot;:176.4,&quot;width&quot;:871.2}"/>
</p:tagLst>
</file>

<file path=ppt/tags/tag16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17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18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19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0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1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2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3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4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5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6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7.xml><?xml version="1.0" encoding="utf-8"?>
<p:tagLst xmlns:p="http://schemas.openxmlformats.org/presentationml/2006/main">
  <p:tag name="KSO_WM_DIAGRAM_VIRTUALLY_FRAME" val="{&quot;height&quot;:260.0566929133859,&quot;left&quot;:50.4,&quot;top&quot;:122.83464566929133,&quot;width&quot;:652.05}"/>
</p:tagLst>
</file>

<file path=ppt/tags/tag28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29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0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1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2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3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4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5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ags/tag36.xml><?xml version="1.0" encoding="utf-8"?>
<p:tagLst xmlns:p="http://schemas.openxmlformats.org/presentationml/2006/main">
  <p:tag name="KSO_WM_DIAGRAM_VIRTUALLY_FRAME" val="{&quot;height&quot;:86.4,&quot;left&quot;:36,&quot;top&quot;:392.4,&quot;width&quot;:883.4399999999999}"/>
</p:tagLst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微软雅黑"/>
        <a:ea typeface="微软雅黑"/>
        <a:cs typeface="微软雅黑"/>
      </a:majorFont>
      <a:minorFont>
        <a:latin typeface="微软雅黑"/>
        <a:ea typeface="微软雅黑"/>
        <a:cs typeface="微软雅黑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20342</Words>
  <Application>WPS Presentation</Application>
  <PresentationFormat/>
  <Paragraphs>2371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4" baseType="lpstr">
      <vt:lpstr>Arial</vt:lpstr>
      <vt:lpstr>SimSun</vt:lpstr>
      <vt:lpstr>Wingdings</vt:lpstr>
      <vt:lpstr>微软雅黑</vt:lpstr>
      <vt:lpstr>Times New Roman</vt:lpstr>
      <vt:lpstr>SimSun</vt:lpstr>
      <vt:lpstr>汉仪书宋二KW</vt:lpstr>
      <vt:lpstr>宋体-简</vt:lpstr>
      <vt:lpstr>Arial Unicode MS</vt:lpstr>
      <vt:lpstr>微软雅黑</vt:lpstr>
      <vt:lpstr>Arial</vt:lpstr>
      <vt:lpstr>Times New Roman</vt:lpstr>
      <vt:lpstr>微软雅黑</vt:lpstr>
      <vt:lpstr>Apple Color Emoji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海外家庭综合能源方案（光伏冰风扇蓄冷专题）</dc:title>
  <dc:creator/>
  <cp:lastModifiedBy>darrenpig</cp:lastModifiedBy>
  <cp:revision>19</cp:revision>
  <dcterms:created xsi:type="dcterms:W3CDTF">2026-10-15T12:12:47Z</dcterms:created>
  <dcterms:modified xsi:type="dcterms:W3CDTF">2026-10-15T12:12:47Z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1033-12.1.28496.28496</vt:lpwstr>
  </property>
  <property fmtid="{D5CDD505-2E9C-101B-9397-08002B2CF9AE}" pid="4" name="ICV">
    <vt:lpwstr>C32AD895C505CED73FC3D06A5E1BCBF5_43</vt:lpwstr>
  </property>
</Properties>
</file>