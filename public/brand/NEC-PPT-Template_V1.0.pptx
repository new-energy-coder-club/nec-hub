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8"/>
    <p:sldId id="257" r:id="rId9"/>
    <p:sldId id="258" r:id="rId10"/>
    <p:sldId id="259" r:id="rId11"/>
    <p:sldId id="260" r:id="rId12"/>
    <p:sldId id="261" r:id="rId7"/>
    <p:sldId id="262" r:id="rId6"/>
  </p:sldIdLst>
  <p:sldSz cx="12191695" cy="6858000" type="screen16x9"/>
  <p:notesSz cx="51435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23" d="100"/>
          <a:sy n="123" d="100"/>
        </p:scale>
        <p:origin x="68" y="9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0BCA4-DD68-EC4D-B622-299D5EF7E44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40A4A-1983-804D-A75A-59622614FB3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2374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6499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748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8873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998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7123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5372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9497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3622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7747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41248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682496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523744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364992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206240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47488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88736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29984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989320"/>
            <a:ext cx="6705432" cy="32004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5432" y="5989320"/>
            <a:ext cx="5486262" cy="32004"/>
          </a:xfrm>
          <a:prstGeom prst="rect">
            <a:avLst/>
          </a:prstGeom>
          <a:solidFill>
            <a:srgbClr val="E8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64040" y="960120"/>
            <a:ext cx="1920240" cy="1920240"/>
          </a:xfrm>
          <a:prstGeom prst="ellipse">
            <a:avLst/>
          </a:prstGeom>
          <a:noFill/>
          <a:ln w="31750">
            <a:solidFill>
              <a:srgbClr val="1FA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8058" y="1104138"/>
            <a:ext cx="1632204" cy="1632204"/>
          </a:xfrm>
          <a:prstGeom prst="ellipse">
            <a:avLst/>
          </a:prstGeom>
          <a:noFill/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96728" y="1892808"/>
            <a:ext cx="54864" cy="54864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02920" y="995484"/>
            <a:ext cx="738749" cy="259862"/>
          </a:xfrm>
          <a:custGeom>
            <a:avLst/>
            <a:gdLst/>
            <a:ahLst/>
            <a:cxnLst/>
            <a:rect l="l" t="t" r="r" b="b"/>
            <a:pathLst>
              <a:path w="199" h="70">
                <a:moveTo>
                  <a:pt x="0" y="32"/>
                </a:moveTo>
                <a:lnTo>
                  <a:pt x="42" y="32"/>
                </a:lnTo>
                <a:lnTo>
                  <a:pt x="97" y="42"/>
                </a:lnTo>
                <a:lnTo>
                  <a:pt x="139" y="0"/>
                </a:lnTo>
                <a:lnTo>
                  <a:pt x="199" y="28"/>
                </a:lnTo>
                <a:lnTo>
                  <a:pt x="157" y="70"/>
                </a:lnTo>
                <a:lnTo>
                  <a:pt x="102" y="60"/>
                </a:lnTo>
                <a:lnTo>
                  <a:pt x="60" y="60"/>
                </a:lnTo>
                <a:close/>
              </a:path>
            </a:pathLst>
          </a:custGeom>
          <a:solidFill>
            <a:srgbClr val="8F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85752" y="561144"/>
            <a:ext cx="155917" cy="538285"/>
          </a:xfrm>
          <a:custGeom>
            <a:avLst/>
            <a:gdLst/>
            <a:ahLst/>
            <a:cxnLst/>
            <a:rect l="l" t="t" r="r" b="b"/>
            <a:pathLst>
              <a:path w="42" h="145">
                <a:moveTo>
                  <a:pt x="0" y="0"/>
                </a:moveTo>
                <a:lnTo>
                  <a:pt x="42" y="0"/>
                </a:lnTo>
                <a:lnTo>
                  <a:pt x="42" y="145"/>
                </a:lnTo>
                <a:lnTo>
                  <a:pt x="0" y="145"/>
                </a:lnTo>
                <a:close/>
              </a:path>
            </a:pathLst>
          </a:custGeom>
          <a:solidFill>
            <a:srgbClr val="8F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02920" y="457199"/>
            <a:ext cx="516011" cy="694202"/>
          </a:xfrm>
          <a:custGeom>
            <a:avLst/>
            <a:gdLst/>
            <a:ahLst/>
            <a:cxnLst/>
            <a:rect l="l" t="t" r="r" b="b"/>
            <a:pathLst>
              <a:path w="139" h="187">
                <a:moveTo>
                  <a:pt x="0" y="42"/>
                </a:moveTo>
                <a:lnTo>
                  <a:pt x="0" y="177"/>
                </a:lnTo>
                <a:lnTo>
                  <a:pt x="42" y="177"/>
                </a:lnTo>
                <a:lnTo>
                  <a:pt x="42" y="129"/>
                </a:lnTo>
                <a:lnTo>
                  <a:pt x="97" y="187"/>
                </a:lnTo>
                <a:lnTo>
                  <a:pt x="139" y="145"/>
                </a:lnTo>
                <a:lnTo>
                  <a:pt x="139" y="0"/>
                </a:lnTo>
                <a:lnTo>
                  <a:pt x="97" y="0"/>
                </a:lnTo>
                <a:lnTo>
                  <a:pt x="97" y="100"/>
                </a:lnTo>
                <a:lnTo>
                  <a:pt x="42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02920" y="613116"/>
            <a:ext cx="378655" cy="103945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63013" y="457199"/>
            <a:ext cx="378655" cy="103945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56692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spc="200">
                <a:solidFill>
                  <a:srgbClr val="FFFFFF"/>
                </a:solidFill>
                <a:latin typeface="Arial Black"/>
                <a:ea typeface="Arial Black"/>
              </a:rPr>
              <a:t>NEC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7632" y="10789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spc="200">
                <a:solidFill>
                  <a:srgbClr val="4FC3F7"/>
                </a:solidFill>
                <a:latin typeface="Consolas"/>
                <a:ea typeface="Consolas"/>
              </a:rPr>
              <a:t>NEW ENERGY CODER · 常州工学院 NEC 战队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265176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Arial Black"/>
                <a:ea typeface="Arial Black"/>
              </a:rPr>
              <a:t>演示文稿标题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9776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FC3F7"/>
                </a:solidFill>
                <a:latin typeface="微软雅黑"/>
                <a:ea typeface="微软雅黑"/>
              </a:rPr>
              <a:t>副标题：一句话说明这份 PPT 的核心内容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spc="100">
                <a:solidFill>
                  <a:srgbClr val="9FB4E8"/>
                </a:solidFill>
                <a:latin typeface="Consolas"/>
                <a:ea typeface="Consolas"/>
              </a:rPr>
              <a:t>汇报人 · 部门 · 2026-10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spc="200">
                <a:solidFill>
                  <a:srgbClr val="4FC3F7"/>
                </a:solidFill>
                <a:latin typeface="Consolas"/>
                <a:ea typeface="Consolas"/>
              </a:rPr>
              <a:t>BUILT TO DAWN · 为黎明而造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spc="300">
                <a:solidFill>
                  <a:srgbClr val="4FC3F7"/>
                </a:solidFill>
                <a:latin typeface="Consolas"/>
                <a:ea typeface="Consolas"/>
              </a:rPr>
              <a:t>NEC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554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2496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3744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7488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88736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9984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71232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53728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94976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36224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777472" y="54864"/>
            <a:ext cx="7315" cy="1554480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"/>
            <a:ext cx="12191695" cy="7315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896112"/>
            <a:ext cx="12191695" cy="7315"/>
          </a:xfrm>
          <a:prstGeom prst="rect">
            <a:avLst/>
          </a:prstGeom>
          <a:solidFill>
            <a:srgbClr val="E3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0881360" y="829994"/>
            <a:ext cx="699868" cy="246185"/>
          </a:xfrm>
          <a:custGeom>
            <a:avLst/>
            <a:gdLst/>
            <a:ahLst/>
            <a:cxnLst/>
            <a:rect l="l" t="t" r="r" b="b"/>
            <a:pathLst>
              <a:path w="199" h="70">
                <a:moveTo>
                  <a:pt x="0" y="32"/>
                </a:moveTo>
                <a:lnTo>
                  <a:pt x="42" y="32"/>
                </a:lnTo>
                <a:lnTo>
                  <a:pt x="97" y="42"/>
                </a:lnTo>
                <a:lnTo>
                  <a:pt x="139" y="0"/>
                </a:lnTo>
                <a:lnTo>
                  <a:pt x="199" y="28"/>
                </a:lnTo>
                <a:lnTo>
                  <a:pt x="157" y="70"/>
                </a:lnTo>
                <a:lnTo>
                  <a:pt x="102" y="60"/>
                </a:lnTo>
                <a:lnTo>
                  <a:pt x="60" y="60"/>
                </a:lnTo>
                <a:close/>
              </a:path>
            </a:pathLst>
          </a:custGeom>
          <a:solidFill>
            <a:srgbClr val="14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1433517" y="418514"/>
            <a:ext cx="147711" cy="509954"/>
          </a:xfrm>
          <a:custGeom>
            <a:avLst/>
            <a:gdLst/>
            <a:ahLst/>
            <a:cxnLst/>
            <a:rect l="l" t="t" r="r" b="b"/>
            <a:pathLst>
              <a:path w="42" h="145">
                <a:moveTo>
                  <a:pt x="0" y="0"/>
                </a:moveTo>
                <a:lnTo>
                  <a:pt x="42" y="0"/>
                </a:lnTo>
                <a:lnTo>
                  <a:pt x="42" y="145"/>
                </a:lnTo>
                <a:lnTo>
                  <a:pt x="0" y="145"/>
                </a:lnTo>
                <a:close/>
              </a:path>
            </a:pathLst>
          </a:custGeom>
          <a:solidFill>
            <a:srgbClr val="14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0881360" y="320040"/>
            <a:ext cx="488852" cy="657665"/>
          </a:xfrm>
          <a:custGeom>
            <a:avLst/>
            <a:gdLst/>
            <a:ahLst/>
            <a:cxnLst/>
            <a:rect l="l" t="t" r="r" b="b"/>
            <a:pathLst>
              <a:path w="139" h="187">
                <a:moveTo>
                  <a:pt x="0" y="42"/>
                </a:moveTo>
                <a:lnTo>
                  <a:pt x="0" y="177"/>
                </a:lnTo>
                <a:lnTo>
                  <a:pt x="42" y="177"/>
                </a:lnTo>
                <a:lnTo>
                  <a:pt x="42" y="129"/>
                </a:lnTo>
                <a:lnTo>
                  <a:pt x="97" y="187"/>
                </a:lnTo>
                <a:lnTo>
                  <a:pt x="139" y="145"/>
                </a:lnTo>
                <a:lnTo>
                  <a:pt x="139" y="0"/>
                </a:lnTo>
                <a:lnTo>
                  <a:pt x="97" y="0"/>
                </a:lnTo>
                <a:lnTo>
                  <a:pt x="97" y="100"/>
                </a:lnTo>
                <a:lnTo>
                  <a:pt x="42" y="42"/>
                </a:lnTo>
                <a:close/>
              </a:path>
            </a:pathLst>
          </a:custGeom>
          <a:gradFill rotWithShape="1">
            <a:gsLst>
              <a:gs pos="0">
                <a:srgbClr val="2B3FC2"/>
              </a:gs>
              <a:gs pos="100000">
                <a:srgbClr val="10277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0881360" y="467750"/>
            <a:ext cx="358726" cy="98474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344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1222501" y="320040"/>
            <a:ext cx="358726" cy="98474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344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41B5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754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spc="400">
                <a:solidFill>
                  <a:srgbClr val="1FA9E8"/>
                </a:solidFill>
                <a:latin typeface="Arial Black"/>
                <a:ea typeface="Arial Black"/>
              </a:rPr>
              <a:t>CONTENTS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96596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A9E8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98424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033"/>
                </a:solidFill>
                <a:latin typeface="微软雅黑"/>
                <a:ea typeface="微软雅黑"/>
              </a:rPr>
              <a:t>背景与目标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24414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472"/>
                </a:solidFill>
                <a:latin typeface="微软雅黑"/>
                <a:ea typeface="微软雅黑"/>
              </a:rPr>
              <a:t>为什么是这件事 / 要达成什么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2880360"/>
            <a:ext cx="10515600" cy="10972"/>
          </a:xfrm>
          <a:prstGeom prst="rect">
            <a:avLst/>
          </a:prstGeom>
          <a:solidFill>
            <a:srgbClr val="D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10896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A9E8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12724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033"/>
                </a:solidFill>
                <a:latin typeface="微软雅黑"/>
                <a:ea typeface="微软雅黑"/>
              </a:rPr>
              <a:t>方案与执行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5844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472"/>
                </a:solidFill>
                <a:latin typeface="微软雅黑"/>
                <a:ea typeface="微软雅黑"/>
              </a:rPr>
              <a:t>我们怎么做 / 关键动作与分工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023360"/>
            <a:ext cx="10515600" cy="10972"/>
          </a:xfrm>
          <a:prstGeom prst="rect">
            <a:avLst/>
          </a:prstGeom>
          <a:solidFill>
            <a:srgbClr val="D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25196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A9E8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27024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033"/>
                </a:solidFill>
                <a:latin typeface="微软雅黑"/>
                <a:ea typeface="微软雅黑"/>
              </a:rPr>
              <a:t>数据与结果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7274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472"/>
                </a:solidFill>
                <a:latin typeface="微软雅黑"/>
                <a:ea typeface="微软雅黑"/>
              </a:rPr>
              <a:t>指标、对比与结论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166360"/>
            <a:ext cx="10515600" cy="10972"/>
          </a:xfrm>
          <a:prstGeom prst="rect">
            <a:avLst/>
          </a:prstGeom>
          <a:solidFill>
            <a:srgbClr val="D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9496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A9E8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41324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033"/>
                </a:solidFill>
                <a:latin typeface="微软雅黑"/>
                <a:ea typeface="微软雅黑"/>
              </a:rPr>
              <a:t>计划与展望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8704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472"/>
                </a:solidFill>
                <a:latin typeface="微软雅黑"/>
                <a:ea typeface="微软雅黑"/>
              </a:rPr>
              <a:t>下一步 / 需要的支持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6309360"/>
            <a:ext cx="10515600" cy="10972"/>
          </a:xfrm>
          <a:prstGeom prst="rect">
            <a:avLst/>
          </a:prstGeom>
          <a:solidFill>
            <a:srgbClr val="D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spc="200">
                <a:solidFill>
                  <a:srgbClr val="5A6472"/>
                </a:solidFill>
                <a:latin typeface="Consolas"/>
                <a:ea typeface="Consolas"/>
              </a:rPr>
              <a:t>BUILT TO DAWN · 为黎明而造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spc="300">
                <a:solidFill>
                  <a:srgbClr val="5A6472"/>
                </a:solidFill>
                <a:latin typeface="Consolas"/>
                <a:ea typeface="Consolas"/>
              </a:rPr>
              <a:t>NEC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2374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6499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748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8873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998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7123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5372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9497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3622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7747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41248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682496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523744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364992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206240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47488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88736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29984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6705432" cy="32004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5432" y="6309360"/>
            <a:ext cx="5486262" cy="32004"/>
          </a:xfrm>
          <a:prstGeom prst="rect">
            <a:avLst/>
          </a:prstGeom>
          <a:solidFill>
            <a:srgbClr val="E8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698480" y="5772247"/>
            <a:ext cx="894275" cy="314569"/>
          </a:xfrm>
          <a:custGeom>
            <a:avLst/>
            <a:gdLst/>
            <a:ahLst/>
            <a:cxnLst/>
            <a:rect l="l" t="t" r="r" b="b"/>
            <a:pathLst>
              <a:path w="199" h="70">
                <a:moveTo>
                  <a:pt x="0" y="32"/>
                </a:moveTo>
                <a:lnTo>
                  <a:pt x="42" y="32"/>
                </a:lnTo>
                <a:lnTo>
                  <a:pt x="97" y="42"/>
                </a:lnTo>
                <a:lnTo>
                  <a:pt x="139" y="0"/>
                </a:lnTo>
                <a:lnTo>
                  <a:pt x="199" y="28"/>
                </a:lnTo>
                <a:lnTo>
                  <a:pt x="157" y="70"/>
                </a:lnTo>
                <a:lnTo>
                  <a:pt x="102" y="60"/>
                </a:lnTo>
                <a:lnTo>
                  <a:pt x="60" y="60"/>
                </a:lnTo>
                <a:close/>
              </a:path>
            </a:pathLst>
          </a:custGeom>
          <a:solidFill>
            <a:srgbClr val="8F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1404014" y="5246467"/>
            <a:ext cx="188742" cy="651608"/>
          </a:xfrm>
          <a:custGeom>
            <a:avLst/>
            <a:gdLst/>
            <a:ahLst/>
            <a:cxnLst/>
            <a:rect l="l" t="t" r="r" b="b"/>
            <a:pathLst>
              <a:path w="42" h="145">
                <a:moveTo>
                  <a:pt x="0" y="0"/>
                </a:moveTo>
                <a:lnTo>
                  <a:pt x="42" y="0"/>
                </a:lnTo>
                <a:lnTo>
                  <a:pt x="42" y="145"/>
                </a:lnTo>
                <a:lnTo>
                  <a:pt x="0" y="145"/>
                </a:lnTo>
                <a:close/>
              </a:path>
            </a:pathLst>
          </a:custGeom>
          <a:solidFill>
            <a:srgbClr val="8F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698480" y="5120639"/>
            <a:ext cx="624645" cy="840349"/>
          </a:xfrm>
          <a:custGeom>
            <a:avLst/>
            <a:gdLst/>
            <a:ahLst/>
            <a:cxnLst/>
            <a:rect l="l" t="t" r="r" b="b"/>
            <a:pathLst>
              <a:path w="139" h="187">
                <a:moveTo>
                  <a:pt x="0" y="42"/>
                </a:moveTo>
                <a:lnTo>
                  <a:pt x="0" y="177"/>
                </a:lnTo>
                <a:lnTo>
                  <a:pt x="42" y="177"/>
                </a:lnTo>
                <a:lnTo>
                  <a:pt x="42" y="129"/>
                </a:lnTo>
                <a:lnTo>
                  <a:pt x="97" y="187"/>
                </a:lnTo>
                <a:lnTo>
                  <a:pt x="139" y="145"/>
                </a:lnTo>
                <a:lnTo>
                  <a:pt x="139" y="0"/>
                </a:lnTo>
                <a:lnTo>
                  <a:pt x="97" y="0"/>
                </a:lnTo>
                <a:lnTo>
                  <a:pt x="97" y="100"/>
                </a:lnTo>
                <a:lnTo>
                  <a:pt x="42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698480" y="5309381"/>
            <a:ext cx="458372" cy="125828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1134383" y="5120639"/>
            <a:ext cx="458372" cy="125828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1554480"/>
            <a:ext cx="3657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0" b="0">
                <a:solidFill>
                  <a:srgbClr val="1FA9E8"/>
                </a:solidFill>
                <a:latin typeface="Arial Black"/>
                <a:ea typeface="Arial Black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749039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章节标题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4617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spc="200">
                <a:solidFill>
                  <a:srgbClr val="4FC3F7"/>
                </a:solidFill>
                <a:latin typeface="Consolas"/>
                <a:ea typeface="Consolas"/>
              </a:rPr>
              <a:t>SECTION TITLE · 用一句短语概括本章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spc="200">
                <a:solidFill>
                  <a:srgbClr val="4FC3F7"/>
                </a:solidFill>
                <a:latin typeface="Consolas"/>
                <a:ea typeface="Consolas"/>
              </a:rPr>
              <a:t>BUILT TO DAWN · 为黎明而造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spc="300">
                <a:solidFill>
                  <a:srgbClr val="4FC3F7"/>
                </a:solidFill>
                <a:latin typeface="Consolas"/>
                <a:ea typeface="Consolas"/>
              </a:rPr>
              <a:t>NEC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spc="200">
                <a:solidFill>
                  <a:srgbClr val="5A6472"/>
                </a:solidFill>
                <a:latin typeface="Consolas"/>
                <a:ea typeface="Consolas"/>
              </a:rPr>
              <a:t>NEC · 常州工学院 NEC 战队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B5E"/>
                </a:solidFill>
                <a:latin typeface="微软雅黑"/>
                <a:ea typeface="微软雅黑"/>
              </a:rPr>
              <a:t>页面标题：结论先行的一句话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61872"/>
            <a:ext cx="502920" cy="41148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46504"/>
            <a:ext cx="82296" cy="777240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B5E"/>
                </a:solidFill>
                <a:latin typeface="微软雅黑"/>
                <a:ea typeface="微软雅黑"/>
              </a:rPr>
              <a:t>要点一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微软雅黑"/>
                <a:ea typeface="微软雅黑"/>
              </a:rPr>
              <a:t>支持性说明文字。建议每页 3-5 个要点，每个要点不超过两行。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16936"/>
            <a:ext cx="82296" cy="777240"/>
          </a:xfrm>
          <a:prstGeom prst="rect">
            <a:avLst/>
          </a:prstGeom>
          <a:solidFill>
            <a:srgbClr val="14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B5E"/>
                </a:solidFill>
                <a:latin typeface="微软雅黑"/>
                <a:ea typeface="微软雅黑"/>
              </a:rPr>
              <a:t>要点二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00984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微软雅黑"/>
                <a:ea typeface="微软雅黑"/>
              </a:rPr>
              <a:t>关键数字用破晓青强调，例如 87% 与 3 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87368"/>
            <a:ext cx="82296" cy="777240"/>
          </a:xfrm>
          <a:prstGeom prst="rect">
            <a:avLst/>
          </a:prstGeom>
          <a:solidFill>
            <a:srgbClr val="14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3250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B5E"/>
                </a:solidFill>
                <a:latin typeface="微软雅黑"/>
                <a:ea typeface="微软雅黑"/>
              </a:rPr>
              <a:t>要点三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71416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微软雅黑"/>
                <a:ea typeface="微软雅黑"/>
              </a:rPr>
              <a:t>需要讨论/决策的事项，用深色加粗写在要点里。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394960"/>
            <a:ext cx="11064240" cy="777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5955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033"/>
                </a:solidFill>
                <a:latin typeface="微软雅黑"/>
                <a:ea typeface="微软雅黑"/>
              </a:rPr>
              <a:t>小结 / 过渡句：把这一页收束成一句可以带走的话。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spc="200">
                <a:solidFill>
                  <a:srgbClr val="5A6472"/>
                </a:solidFill>
                <a:latin typeface="Consolas"/>
                <a:ea typeface="Consolas"/>
              </a:rPr>
              <a:t>BUILT TO DAWN · 为黎明而造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spc="300">
                <a:solidFill>
                  <a:srgbClr val="5A6472"/>
                </a:solidFill>
                <a:latin typeface="Consolas"/>
                <a:ea typeface="Consolas"/>
              </a:rPr>
              <a:t>NEC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spc="200">
                <a:solidFill>
                  <a:srgbClr val="5A6472"/>
                </a:solidFill>
                <a:latin typeface="Consolas"/>
                <a:ea typeface="Consolas"/>
              </a:rPr>
              <a:t>NEC · 常州工学院 NEC 战队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B5E"/>
                </a:solidFill>
                <a:latin typeface="微软雅黑"/>
                <a:ea typeface="微软雅黑"/>
              </a:rPr>
              <a:t>图文页：图说清楚，字说重点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61872"/>
            <a:ext cx="502920" cy="41148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B5E"/>
                </a:solidFill>
                <a:latin typeface="微软雅黑"/>
                <a:ea typeface="微软雅黑"/>
              </a:rPr>
              <a:t>左侧文字标题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A9E8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微软雅黑"/>
                <a:ea typeface="微软雅黑"/>
              </a:rPr>
              <a:t>说明文字：配合右图的讲解，两到三行为宜，字号 13pt。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A9E8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微软雅黑"/>
                <a:ea typeface="微软雅黑"/>
              </a:rPr>
              <a:t>说明文字：配合右图的讲解，两到三行为宜，字号 13pt。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A9E8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微软雅黑"/>
                <a:ea typeface="微软雅黑"/>
              </a:rPr>
              <a:t>说明文字：配合右图的讲解，两到三行为宜，字号 13pt。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5440680" cy="4206240"/>
          </a:xfrm>
          <a:prstGeom prst="rect">
            <a:avLst/>
          </a:prstGeom>
          <a:solidFill>
            <a:srgbClr val="F4F6FB"/>
          </a:solidFill>
          <a:ln w="127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520440"/>
            <a:ext cx="5440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72"/>
                </a:solidFill>
                <a:latin typeface="微软雅黑"/>
                <a:ea typeface="微软雅黑"/>
              </a:rPr>
              <a:t>图片 / 截图占位（约 16:9）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943600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A6472"/>
                </a:solidFill>
                <a:latin typeface="Consolas"/>
                <a:ea typeface="Consolas"/>
              </a:rPr>
              <a:t>图注：来源与日期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spc="200">
                <a:solidFill>
                  <a:srgbClr val="5A6472"/>
                </a:solidFill>
                <a:latin typeface="Consolas"/>
                <a:ea typeface="Consolas"/>
              </a:rPr>
              <a:t>BUILT TO DAWN · 为黎明而造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spc="300">
                <a:solidFill>
                  <a:srgbClr val="5A6472"/>
                </a:solidFill>
                <a:latin typeface="Consolas"/>
                <a:ea typeface="Consolas"/>
              </a:rPr>
              <a:t>NEC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spc="200">
                <a:solidFill>
                  <a:srgbClr val="5A6472"/>
                </a:solidFill>
                <a:latin typeface="Consolas"/>
                <a:ea typeface="Consolas"/>
              </a:rPr>
              <a:t>NEC · 常州工学院 NEC 战队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B5E"/>
                </a:solidFill>
                <a:latin typeface="微软雅黑"/>
                <a:ea typeface="微软雅黑"/>
              </a:rPr>
              <a:t>数据页：一张表一个结论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61872"/>
            <a:ext cx="502920" cy="41148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651760"/>
                <a:gridCol w="2651760"/>
                <a:gridCol w="2651760"/>
              </a:tblGrid>
              <a:tr h="65836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41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>
                    <a:solidFill>
                      <a:srgbClr val="141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微软雅黑"/>
                        </a:rPr>
                        <a:t>实际</a:t>
                      </a:r>
                    </a:p>
                  </a:txBody>
                  <a:tcPr>
                    <a:solidFill>
                      <a:srgbClr val="141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微软雅黑"/>
                        </a:rPr>
                        <a:t>达成</a:t>
                      </a:r>
                    </a:p>
                  </a:txBody>
                  <a:tcPr>
                    <a:solidFill>
                      <a:srgbClr val="141B5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33"/>
                          </a:solidFill>
                          <a:latin typeface="微软雅黑"/>
                        </a:rPr>
                        <a:t>示例指标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033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033"/>
                          </a:solidFill>
                          <a:latin typeface="微软雅黑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A9E8"/>
                          </a:solidFill>
                          <a:latin typeface="微软雅黑"/>
                        </a:rPr>
                        <a:t>108%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33"/>
                          </a:solidFill>
                          <a:latin typeface="微软雅黑"/>
                        </a:rPr>
                        <a:t>示例指标 B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033"/>
                          </a:solidFill>
                          <a:latin typeface="微软雅黑"/>
                        </a:rPr>
                        <a:t>3.0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033"/>
                          </a:solidFill>
                          <a:latin typeface="微软雅黑"/>
                        </a:rPr>
                        <a:t>2.6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A9E8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033"/>
                          </a:solidFill>
                          <a:latin typeface="微软雅黑"/>
                        </a:rPr>
                        <a:t>示例指标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033"/>
                          </a:solidFill>
                          <a:latin typeface="微软雅黑"/>
                        </a:rPr>
                        <a:t>12 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033"/>
                          </a:solidFill>
                          <a:latin typeface="微软雅黑"/>
                        </a:rPr>
                        <a:t>10 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1033"/>
                          </a:solidFill>
                          <a:latin typeface="微软雅黑"/>
                        </a:rPr>
                        <a:t>提前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B5E"/>
                          </a:solidFill>
                          <a:latin typeface="微软雅黑"/>
                        </a:rPr>
                        <a:t>结论</a:t>
                      </a:r>
                    </a:p>
                  </a:txBody>
                  <a:tcPr>
                    <a:solidFill>
                      <a:srgbClr val="E8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B5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E8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B5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E8E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1B5E"/>
                          </a:solidFill>
                          <a:latin typeface="微软雅黑"/>
                        </a:rPr>
                        <a:t>整体达标</a:t>
                      </a:r>
                    </a:p>
                  </a:txBody>
                  <a:tcPr>
                    <a:solidFill>
                      <a:srgbClr val="E8EC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212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微软雅黑"/>
                <a:ea typeface="微软雅黑"/>
              </a:rPr>
              <a:t>读表结论：用一句话告诉观众该看哪里、说明了什么。未达标的项用藏青加粗说明原因与对策。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spc="200">
                <a:solidFill>
                  <a:srgbClr val="5A6472"/>
                </a:solidFill>
                <a:latin typeface="Consolas"/>
                <a:ea typeface="Consolas"/>
              </a:rPr>
              <a:t>BUILT TO DAWN · 为黎明而造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spc="300">
                <a:solidFill>
                  <a:srgbClr val="5A6472"/>
                </a:solidFill>
                <a:latin typeface="Consolas"/>
                <a:ea typeface="Consolas"/>
              </a:rPr>
              <a:t>NEC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2374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6499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748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8873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998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7123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53728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94976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36224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77472" y="0"/>
            <a:ext cx="7315" cy="6858000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41248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682496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523744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364992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206240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47488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888736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29984"/>
            <a:ext cx="12191695" cy="7315"/>
          </a:xfrm>
          <a:prstGeom prst="rect">
            <a:avLst/>
          </a:prstGeom>
          <a:solidFill>
            <a:srgbClr val="1E2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6705432" cy="32004"/>
          </a:xfrm>
          <a:prstGeom prst="rect">
            <a:avLst/>
          </a:prstGeom>
          <a:solidFill>
            <a:srgbClr val="1FA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5432" y="5120640"/>
            <a:ext cx="5486262" cy="32004"/>
          </a:xfrm>
          <a:prstGeom prst="rect">
            <a:avLst/>
          </a:prstGeom>
          <a:solidFill>
            <a:srgbClr val="E8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76088" y="4297679"/>
            <a:ext cx="1645920" cy="1645920"/>
          </a:xfrm>
          <a:prstGeom prst="ellipse">
            <a:avLst/>
          </a:prstGeom>
          <a:noFill/>
          <a:ln w="31750">
            <a:solidFill>
              <a:srgbClr val="1FA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99532" y="4421124"/>
            <a:ext cx="1399032" cy="1399032"/>
          </a:xfrm>
          <a:prstGeom prst="ellipse">
            <a:avLst/>
          </a:prstGeom>
          <a:noFill/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71616" y="5093207"/>
            <a:ext cx="54864" cy="54864"/>
          </a:xfrm>
          <a:prstGeom prst="ellipse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04688" y="2108200"/>
            <a:ext cx="1010920" cy="355600"/>
          </a:xfrm>
          <a:custGeom>
            <a:avLst/>
            <a:gdLst/>
            <a:ahLst/>
            <a:cxnLst/>
            <a:rect l="l" t="t" r="r" b="b"/>
            <a:pathLst>
              <a:path w="199" h="70">
                <a:moveTo>
                  <a:pt x="0" y="32"/>
                </a:moveTo>
                <a:lnTo>
                  <a:pt x="42" y="32"/>
                </a:lnTo>
                <a:lnTo>
                  <a:pt x="97" y="42"/>
                </a:lnTo>
                <a:lnTo>
                  <a:pt x="139" y="0"/>
                </a:lnTo>
                <a:lnTo>
                  <a:pt x="199" y="28"/>
                </a:lnTo>
                <a:lnTo>
                  <a:pt x="157" y="70"/>
                </a:lnTo>
                <a:lnTo>
                  <a:pt x="102" y="60"/>
                </a:lnTo>
                <a:lnTo>
                  <a:pt x="60" y="60"/>
                </a:lnTo>
                <a:close/>
              </a:path>
            </a:pathLst>
          </a:custGeom>
          <a:solidFill>
            <a:srgbClr val="8F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302248" y="1513840"/>
            <a:ext cx="213360" cy="736600"/>
          </a:xfrm>
          <a:custGeom>
            <a:avLst/>
            <a:gdLst/>
            <a:ahLst/>
            <a:cxnLst/>
            <a:rect l="l" t="t" r="r" b="b"/>
            <a:pathLst>
              <a:path w="42" h="145">
                <a:moveTo>
                  <a:pt x="0" y="0"/>
                </a:moveTo>
                <a:lnTo>
                  <a:pt x="42" y="0"/>
                </a:lnTo>
                <a:lnTo>
                  <a:pt x="42" y="145"/>
                </a:lnTo>
                <a:lnTo>
                  <a:pt x="0" y="145"/>
                </a:lnTo>
                <a:close/>
              </a:path>
            </a:pathLst>
          </a:custGeom>
          <a:solidFill>
            <a:srgbClr val="8FA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504688" y="1371600"/>
            <a:ext cx="706120" cy="949960"/>
          </a:xfrm>
          <a:custGeom>
            <a:avLst/>
            <a:gdLst/>
            <a:ahLst/>
            <a:cxnLst/>
            <a:rect l="l" t="t" r="r" b="b"/>
            <a:pathLst>
              <a:path w="139" h="187">
                <a:moveTo>
                  <a:pt x="0" y="42"/>
                </a:moveTo>
                <a:lnTo>
                  <a:pt x="0" y="177"/>
                </a:lnTo>
                <a:lnTo>
                  <a:pt x="42" y="177"/>
                </a:lnTo>
                <a:lnTo>
                  <a:pt x="42" y="129"/>
                </a:lnTo>
                <a:lnTo>
                  <a:pt x="97" y="187"/>
                </a:lnTo>
                <a:lnTo>
                  <a:pt x="139" y="145"/>
                </a:lnTo>
                <a:lnTo>
                  <a:pt x="139" y="0"/>
                </a:lnTo>
                <a:lnTo>
                  <a:pt x="97" y="0"/>
                </a:lnTo>
                <a:lnTo>
                  <a:pt x="97" y="100"/>
                </a:lnTo>
                <a:lnTo>
                  <a:pt x="42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504688" y="1584960"/>
            <a:ext cx="518160" cy="142240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5997448" y="1371600"/>
            <a:ext cx="518160" cy="142240"/>
          </a:xfrm>
          <a:custGeom>
            <a:avLst/>
            <a:gdLst/>
            <a:ahLst/>
            <a:cxnLst/>
            <a:rect l="l" t="t" r="r" b="b"/>
            <a:pathLst>
              <a:path w="102" h="28">
                <a:moveTo>
                  <a:pt x="0" y="0"/>
                </a:moveTo>
                <a:lnTo>
                  <a:pt x="42" y="0"/>
                </a:lnTo>
                <a:lnTo>
                  <a:pt x="102" y="28"/>
                </a:lnTo>
                <a:lnTo>
                  <a:pt x="60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30175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0" spc="600">
                <a:solidFill>
                  <a:srgbClr val="FFFFFF"/>
                </a:solidFill>
                <a:latin typeface="Arial Black"/>
                <a:ea typeface="Arial Black"/>
              </a:rPr>
              <a:t>KEEP BUILDING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0233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spc="300">
                <a:solidFill>
                  <a:srgbClr val="4FC3F7"/>
                </a:solidFill>
                <a:latin typeface="微软雅黑"/>
                <a:ea typeface="微软雅黑"/>
              </a:rPr>
              <a:t>BUILT TO DAWN · 为黎明而造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6235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FB4E8"/>
                </a:solidFill>
                <a:latin typeface="Consolas"/>
                <a:ea typeface="Consolas"/>
              </a:rPr>
              <a:t>感谢聆听 · 请联系 NEC AI 中台更新模板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1356</Words>
  <Application>WPS 演示</Application>
  <PresentationFormat>全屏显示(16:9)</PresentationFormat>
  <Paragraphs>93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Source Han Sans CN Regular</vt:lpstr>
      <vt:lpstr>sourcehansanscn</vt:lpstr>
      <vt:lpstr>Researcher</vt:lpstr>
      <vt:lpstr>仓耳舒圆体 W05</vt:lpstr>
      <vt:lpstr>思源黑体 Medium</vt:lpstr>
      <vt:lpstr>思源黑体</vt:lpstr>
      <vt:lpstr>思源黑体 Heavy</vt:lpstr>
      <vt:lpstr>AMGDT</vt:lpstr>
      <vt:lpstr>KSOFF1D8592D</vt:lpstr>
      <vt:lpstr>微软雅黑</vt:lpstr>
      <vt:lpstr>Arial Unicode MS</vt:lpstr>
      <vt:lpstr>等线</vt:lpstr>
      <vt:lpstr>Calibri</vt:lpstr>
      <vt:lpstr>Source Han Sans CN Regular</vt:lpstr>
      <vt:lpstr>sourcehansanscn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 品牌 PPT 标准模板 V1.0</dc:title>
  <dc:creator>NEC AI 中台</dc:creator>
  <cp:lastModifiedBy>DarrenPig</cp:lastModifiedBy>
  <cp:revision>8</cp:revision>
  <dcterms:created xsi:type="dcterms:W3CDTF">2024-01-01T00:00:00Z</dcterms:created>
  <dcterms:modified xsi:type="dcterms:W3CDTF">2026-08-03T18:32:11Z</dcterms:modified>
  <dc:subject>BUILT TO DAWN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82609AB61C6144F9BE600BA23C90AC17_13</vt:lpwstr>
  </property>
</Properties>
</file>